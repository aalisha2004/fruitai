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71" r:id="rId2"/>
    <p:sldId id="266" r:id="rId3"/>
    <p:sldId id="259" r:id="rId4"/>
    <p:sldId id="276" r:id="rId5"/>
    <p:sldId id="261" r:id="rId6"/>
    <p:sldId id="278" r:id="rId7"/>
    <p:sldId id="274" r:id="rId8"/>
    <p:sldId id="269" r:id="rId9"/>
    <p:sldId id="284" r:id="rId10"/>
    <p:sldId id="286" r:id="rId11"/>
    <p:sldId id="263" r:id="rId12"/>
    <p:sldId id="280" r:id="rId13"/>
    <p:sldId id="281" r:id="rId14"/>
    <p:sldId id="288" r:id="rId15"/>
    <p:sldId id="290" r:id="rId16"/>
    <p:sldId id="292" r:id="rId17"/>
    <p:sldId id="268" r:id="rId18"/>
    <p:sldId id="265"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9483334-C607-417B-9F30-70DABF160052}">
          <p14:sldIdLst>
            <p14:sldId id="271"/>
            <p14:sldId id="266"/>
            <p14:sldId id="259"/>
            <p14:sldId id="276"/>
          </p14:sldIdLst>
        </p14:section>
        <p14:section name="Untitled Section" id="{327E21F2-70C7-4A08-A521-66288BFE58B1}">
          <p14:sldIdLst>
            <p14:sldId id="261"/>
            <p14:sldId id="278"/>
            <p14:sldId id="274"/>
            <p14:sldId id="269"/>
            <p14:sldId id="284"/>
            <p14:sldId id="286"/>
            <p14:sldId id="263"/>
            <p14:sldId id="280"/>
            <p14:sldId id="281"/>
            <p14:sldId id="288"/>
            <p14:sldId id="290"/>
            <p14:sldId id="292"/>
            <p14:sldId id="268"/>
            <p14:sldId id="265"/>
          </p14:sldIdLst>
        </p14:section>
      </p14:sectionLst>
    </p:ext>
    <p:ext uri="{EFAFB233-063F-42B5-8137-9DF3F51BA10A}">
      <p15:sldGuideLst xmlns:p15="http://schemas.microsoft.com/office/powerpoint/2012/main">
        <p15:guide id="1" orient="horz" pos="2160" userDrawn="1">
          <p15:clr>
            <a:srgbClr val="A4A3A4"/>
          </p15:clr>
        </p15:guide>
        <p15:guide id="2" pos="28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showGuides="1">
      <p:cViewPr varScale="1">
        <p:scale>
          <a:sx n="78" d="100"/>
          <a:sy n="78" d="100"/>
        </p:scale>
        <p:origin x="1579" y="72"/>
      </p:cViewPr>
      <p:guideLst>
        <p:guide orient="horz" pos="2160"/>
        <p:guide pos="287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pPr/>
              <a:t>5/10/2026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pPr/>
              <a:t>‹#›</a:t>
            </a:fld>
            <a:endParaRPr lang="en-US"/>
          </a:p>
        </p:txBody>
      </p:sp>
    </p:spTree>
    <p:extLst>
      <p:ext uri="{BB962C8B-B14F-4D97-AF65-F5344CB8AC3E}">
        <p14:creationId xmlns:p14="http://schemas.microsoft.com/office/powerpoint/2010/main" val="2313910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pPr/>
              <a:t>5/10/2026</a:t>
            </a:fld>
            <a:endParaRPr lang="en-US"/>
          </a:p>
        </p:txBody>
      </p:sp>
      <p:sp>
        <p:nvSpPr>
          <p:cNvPr id="5" name="Footer Placeholder 4"/>
          <p:cNvSpPr>
            <a:spLocks noGrp="1"/>
          </p:cNvSpPr>
          <p:nvPr>
            <p:ph type="ftr" sz="quarter" idx="11"/>
          </p:nvPr>
        </p:nvSpPr>
        <p:spPr/>
        <p:txBody>
          <a:bodyPr/>
          <a:lstStyle/>
          <a:p>
            <a:r>
              <a:rPr lang="en-US"/>
              <a:t>AMGOI VATHAR - ICIRSD - 2025</a:t>
            </a:r>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pPr/>
              <a:t>5/10/2026</a:t>
            </a:fld>
            <a:endParaRPr lang="en-US"/>
          </a:p>
        </p:txBody>
      </p:sp>
      <p:sp>
        <p:nvSpPr>
          <p:cNvPr id="5" name="Footer Placeholder 4"/>
          <p:cNvSpPr>
            <a:spLocks noGrp="1"/>
          </p:cNvSpPr>
          <p:nvPr>
            <p:ph type="ftr" sz="quarter" idx="11"/>
          </p:nvPr>
        </p:nvSpPr>
        <p:spPr/>
        <p:txBody>
          <a:bodyPr/>
          <a:lstStyle/>
          <a:p>
            <a:r>
              <a:rPr lang="en-US"/>
              <a:t>AMGOI VATHAR - ICIRSD - 2025</a:t>
            </a:r>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5/10/2026</a:t>
            </a:fld>
            <a:endParaRPr lang="en-US"/>
          </a:p>
        </p:txBody>
      </p:sp>
      <p:sp>
        <p:nvSpPr>
          <p:cNvPr id="5" name="Footer Placeholder 4"/>
          <p:cNvSpPr>
            <a:spLocks noGrp="1"/>
          </p:cNvSpPr>
          <p:nvPr>
            <p:ph type="ftr" sz="quarter" idx="11"/>
          </p:nvPr>
        </p:nvSpPr>
        <p:spPr/>
        <p:txBody>
          <a:bodyPr/>
          <a:lstStyle/>
          <a:p>
            <a:r>
              <a:rPr lang="en-US"/>
              <a:t>AMGOI VATHAR - ICIRSD - 2025</a:t>
            </a:r>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pPr/>
              <a:t>5/10/2026</a:t>
            </a:fld>
            <a:endParaRPr lang="en-US"/>
          </a:p>
        </p:txBody>
      </p:sp>
      <p:sp>
        <p:nvSpPr>
          <p:cNvPr id="6" name="Footer Placeholder 5"/>
          <p:cNvSpPr>
            <a:spLocks noGrp="1"/>
          </p:cNvSpPr>
          <p:nvPr>
            <p:ph type="ftr" sz="quarter" idx="11"/>
          </p:nvPr>
        </p:nvSpPr>
        <p:spPr/>
        <p:txBody>
          <a:bodyPr/>
          <a:lstStyle/>
          <a:p>
            <a:r>
              <a:rPr lang="en-US"/>
              <a:t>AMGOI VATHAR - ICIRSD - 2025</a:t>
            </a:r>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1"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pPr/>
              <a:t>5/10/2026</a:t>
            </a:fld>
            <a:endParaRPr lang="en-US"/>
          </a:p>
        </p:txBody>
      </p:sp>
      <p:sp>
        <p:nvSpPr>
          <p:cNvPr id="8" name="Footer Placeholder 7"/>
          <p:cNvSpPr>
            <a:spLocks noGrp="1"/>
          </p:cNvSpPr>
          <p:nvPr>
            <p:ph type="ftr" sz="quarter" idx="11"/>
          </p:nvPr>
        </p:nvSpPr>
        <p:spPr/>
        <p:txBody>
          <a:bodyPr/>
          <a:lstStyle/>
          <a:p>
            <a:r>
              <a:rPr lang="en-US"/>
              <a:t>AMGOI VATHAR - ICIRSD - 2025</a:t>
            </a:r>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pPr/>
              <a:t>5/10/2026</a:t>
            </a:fld>
            <a:endParaRPr lang="en-US"/>
          </a:p>
        </p:txBody>
      </p:sp>
      <p:sp>
        <p:nvSpPr>
          <p:cNvPr id="4" name="Footer Placeholder 3"/>
          <p:cNvSpPr>
            <a:spLocks noGrp="1"/>
          </p:cNvSpPr>
          <p:nvPr>
            <p:ph type="ftr" sz="quarter" idx="11"/>
          </p:nvPr>
        </p:nvSpPr>
        <p:spPr/>
        <p:txBody>
          <a:bodyPr/>
          <a:lstStyle/>
          <a:p>
            <a:r>
              <a:rPr lang="en-US"/>
              <a:t>AMGOI VATHAR - ICIRSD - 2025</a:t>
            </a:r>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5/10/2026</a:t>
            </a:fld>
            <a:endParaRPr lang="en-US"/>
          </a:p>
        </p:txBody>
      </p:sp>
      <p:sp>
        <p:nvSpPr>
          <p:cNvPr id="3" name="Footer Placeholder 2"/>
          <p:cNvSpPr>
            <a:spLocks noGrp="1"/>
          </p:cNvSpPr>
          <p:nvPr>
            <p:ph type="ftr" sz="quarter" idx="11"/>
          </p:nvPr>
        </p:nvSpPr>
        <p:spPr/>
        <p:txBody>
          <a:bodyPr/>
          <a:lstStyle/>
          <a:p>
            <a:r>
              <a:rPr lang="en-US"/>
              <a:t>AMGOI VATHAR - ICIRSD - 2025</a:t>
            </a:r>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5/10/2026</a:t>
            </a:fld>
            <a:endParaRPr lang="en-US"/>
          </a:p>
        </p:txBody>
      </p:sp>
      <p:sp>
        <p:nvSpPr>
          <p:cNvPr id="6" name="Footer Placeholder 5"/>
          <p:cNvSpPr>
            <a:spLocks noGrp="1"/>
          </p:cNvSpPr>
          <p:nvPr>
            <p:ph type="ftr" sz="quarter" idx="11"/>
          </p:nvPr>
        </p:nvSpPr>
        <p:spPr/>
        <p:txBody>
          <a:bodyPr/>
          <a:lstStyle/>
          <a:p>
            <a:r>
              <a:rPr lang="en-US"/>
              <a:t>AMGOI VATHAR - ICIRSD - 2025</a:t>
            </a:r>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5/10/2026</a:t>
            </a:fld>
            <a:endParaRPr lang="en-US"/>
          </a:p>
        </p:txBody>
      </p:sp>
      <p:sp>
        <p:nvSpPr>
          <p:cNvPr id="6" name="Footer Placeholder 5"/>
          <p:cNvSpPr>
            <a:spLocks noGrp="1"/>
          </p:cNvSpPr>
          <p:nvPr>
            <p:ph type="ftr" sz="quarter" idx="11"/>
          </p:nvPr>
        </p:nvSpPr>
        <p:spPr/>
        <p:txBody>
          <a:bodyPr/>
          <a:lstStyle/>
          <a:p>
            <a:r>
              <a:rPr lang="en-US"/>
              <a:t>AMGOI VATHAR - ICIRSD - 2025</a:t>
            </a:r>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pPr/>
              <a:t>5/10/2026</a:t>
            </a:fld>
            <a:endParaRPr lang="en-US"/>
          </a:p>
        </p:txBody>
      </p:sp>
      <p:sp>
        <p:nvSpPr>
          <p:cNvPr id="5" name="Footer Placeholder 4"/>
          <p:cNvSpPr>
            <a:spLocks noGrp="1"/>
          </p:cNvSpPr>
          <p:nvPr>
            <p:ph type="ftr" sz="quarter" idx="11"/>
          </p:nvPr>
        </p:nvSpPr>
        <p:spPr/>
        <p:txBody>
          <a:bodyPr/>
          <a:lstStyle/>
          <a:p>
            <a:r>
              <a:rPr lang="en-US"/>
              <a:t>AMGOI VATHAR - ICIRSD - 2025</a:t>
            </a:r>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pPr/>
              <a:t>5/10/2026</a:t>
            </a:fld>
            <a:endParaRPr lang="en-US"/>
          </a:p>
        </p:txBody>
      </p:sp>
      <p:sp>
        <p:nvSpPr>
          <p:cNvPr id="5" name="Footer Placeholder 4"/>
          <p:cNvSpPr>
            <a:spLocks noGrp="1"/>
          </p:cNvSpPr>
          <p:nvPr>
            <p:ph type="ftr" sz="quarter" idx="11"/>
          </p:nvPr>
        </p:nvSpPr>
        <p:spPr/>
        <p:txBody>
          <a:bodyPr/>
          <a:lstStyle/>
          <a:p>
            <a:r>
              <a:rPr lang="en-US"/>
              <a:t>AMGOI VATHAR - ICIRSD - 2025</a:t>
            </a:r>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pPr/>
              <a:t>5/10/2026</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AMGOI VATHAR - ICIRSD - 2025</a:t>
            </a: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100000"/>
        </a:lnSpc>
        <a:spcBef>
          <a:spcPts val="0"/>
        </a:spcBef>
        <a:spcAft>
          <a:spcPts val="0"/>
        </a:spcAft>
        <a:buNone/>
        <a:defRPr sz="2400" b="1" i="0" u="none" kern="1200">
          <a:solidFill>
            <a:srgbClr val="000000"/>
          </a:solidFill>
          <a:latin typeface="Arial" panose="020B0604020202020204" pitchFamily="34" charset="0"/>
          <a:ea typeface="+mj-ea"/>
          <a:cs typeface="+mj-cs"/>
        </a:defRPr>
      </a:lvl1pPr>
    </p:titleStyle>
    <p:bodyStyle>
      <a:lvl1pPr marL="228600" indent="-228600" algn="l" defTabSz="914400" rtl="0" eaLnBrk="1" latinLnBrk="0" hangingPunct="1">
        <a:lnSpc>
          <a:spcPct val="100000"/>
        </a:lnSpc>
        <a:spcBef>
          <a:spcPts val="1000"/>
        </a:spcBef>
        <a:spcAft>
          <a:spcPts val="0"/>
        </a:spcAft>
        <a:buFont typeface="Arial" panose="020B0604020202020204" pitchFamily="34" charset="0"/>
        <a:buChar char="•"/>
        <a:defRPr sz="2400" b="0" i="0" u="none" kern="1200">
          <a:solidFill>
            <a:srgbClr val="000000"/>
          </a:solidFill>
          <a:latin typeface="Times New Roman" panose="0202060305040502030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13AC1-500E-950D-64DD-6D4132E113B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C3F6BB5-3497-BE53-361F-1136AEB6B10A}"/>
              </a:ext>
            </a:extLst>
          </p:cNvPr>
          <p:cNvPicPr>
            <a:picLocks noChangeAspect="1"/>
          </p:cNvPicPr>
          <p:nvPr/>
        </p:nvPicPr>
        <p:blipFill>
          <a:blip r:embed="rId2" cstate="print"/>
          <a:stretch>
            <a:fillRect/>
          </a:stretch>
        </p:blipFill>
        <p:spPr>
          <a:xfrm>
            <a:off x="635" y="0"/>
            <a:ext cx="9143365" cy="6858000"/>
          </a:xfrm>
          <a:prstGeom prst="rect">
            <a:avLst/>
          </a:prstGeom>
          <a:solidFill>
            <a:srgbClr val="7030A0">
              <a:alpha val="23000"/>
            </a:srgbClr>
          </a:solidFill>
        </p:spPr>
      </p:pic>
      <p:sp>
        <p:nvSpPr>
          <p:cNvPr id="5" name="Title 4">
            <a:extLst>
              <a:ext uri="{FF2B5EF4-FFF2-40B4-BE49-F238E27FC236}">
                <a16:creationId xmlns:a16="http://schemas.microsoft.com/office/drawing/2014/main" id="{82B90F0C-90FD-EA93-7293-CEEA26A307B5}"/>
              </a:ext>
            </a:extLst>
          </p:cNvPr>
          <p:cNvSpPr>
            <a:spLocks noGrp="1"/>
          </p:cNvSpPr>
          <p:nvPr>
            <p:ph type="ctrTitle"/>
          </p:nvPr>
        </p:nvSpPr>
        <p:spPr>
          <a:xfrm>
            <a:off x="1143000" y="1644546"/>
            <a:ext cx="6858000" cy="3568908"/>
          </a:xfrm>
        </p:spPr>
        <p:txBody>
          <a:bodyPr>
            <a:noAutofit/>
          </a:bodyPr>
          <a:lstStyle/>
          <a:p>
            <a:r>
              <a:rPr lang="en-IN" dirty="0">
                <a:latin typeface="Times New Roman" panose="02020603050405020304" pitchFamily="18" charset="0"/>
                <a:cs typeface="Times New Roman" panose="02020603050405020304" pitchFamily="18" charset="0"/>
              </a:rPr>
              <a:t>AI-Based Fruit Freshness and Expiry Prediction Using Images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8165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3FF1-9893-6E30-3262-B252D80F59C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FC3D8B2-275D-A1D9-0F7F-10A200E794F6}"/>
              </a:ext>
            </a:extLst>
          </p:cNvPr>
          <p:cNvPicPr>
            <a:picLocks noChangeAspect="1"/>
          </p:cNvPicPr>
          <p:nvPr/>
        </p:nvPicPr>
        <p:blipFill>
          <a:blip r:embed="rId2" cstate="print"/>
          <a:stretch>
            <a:fillRect/>
          </a:stretch>
        </p:blipFill>
        <p:spPr>
          <a:xfrm>
            <a:off x="635" y="0"/>
            <a:ext cx="9143365" cy="6857365"/>
          </a:xfrm>
          <a:prstGeom prst="rect">
            <a:avLst/>
          </a:prstGeom>
          <a:solidFill>
            <a:srgbClr val="7030A0">
              <a:alpha val="23000"/>
            </a:srgbClr>
          </a:solidFill>
        </p:spPr>
      </p:pic>
      <p:sp>
        <p:nvSpPr>
          <p:cNvPr id="4" name="Title 3">
            <a:extLst>
              <a:ext uri="{FF2B5EF4-FFF2-40B4-BE49-F238E27FC236}">
                <a16:creationId xmlns:a16="http://schemas.microsoft.com/office/drawing/2014/main" id="{AFE17578-1432-C3AC-FF43-7380A9D0CCE2}"/>
              </a:ext>
            </a:extLst>
          </p:cNvPr>
          <p:cNvSpPr>
            <a:spLocks noGrp="1"/>
          </p:cNvSpPr>
          <p:nvPr>
            <p:ph type="ctrTitle"/>
          </p:nvPr>
        </p:nvSpPr>
        <p:spPr>
          <a:xfrm>
            <a:off x="167952" y="365760"/>
            <a:ext cx="7310755" cy="627637"/>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pPr algn="ctr">
              <a:lnSpc>
                <a:spcPct val="100000"/>
              </a:lnSpc>
              <a:spcBef>
                <a:spcPts val="0"/>
              </a:spcBef>
              <a:spcAft>
                <a:spcPts val="0"/>
              </a:spcAft>
            </a:pPr>
            <a:r>
              <a:rPr lang="en-IN" altLang="en-US" sz="4000" dirty="0">
                <a:solidFill>
                  <a:schemeClr val="tx1"/>
                </a:solidFill>
              </a:rPr>
              <a:t>           </a:t>
            </a:r>
            <a:r>
              <a:rPr lang="en-IN" altLang="en-US" sz="4000" dirty="0">
                <a:solidFill>
                  <a:schemeClr val="tx1"/>
                </a:solidFill>
                <a:latin typeface="Times New Roman" panose="02020603050405020304" pitchFamily="18" charset="0"/>
                <a:cs typeface="Times New Roman" panose="02020603050405020304" pitchFamily="18" charset="0"/>
              </a:rPr>
              <a:t>Introduction </a:t>
            </a:r>
          </a:p>
        </p:txBody>
      </p:sp>
      <p:sp>
        <p:nvSpPr>
          <p:cNvPr id="2" name="Text Box 1">
            <a:extLst>
              <a:ext uri="{FF2B5EF4-FFF2-40B4-BE49-F238E27FC236}">
                <a16:creationId xmlns:a16="http://schemas.microsoft.com/office/drawing/2014/main" id="{42627596-B500-55BB-22CA-AD8A22E629E8}"/>
              </a:ext>
            </a:extLst>
          </p:cNvPr>
          <p:cNvSpPr txBox="1"/>
          <p:nvPr/>
        </p:nvSpPr>
        <p:spPr>
          <a:xfrm>
            <a:off x="1043136" y="1379973"/>
            <a:ext cx="7057727" cy="4798092"/>
          </a:xfrm>
          <a:prstGeom prst="rect">
            <a:avLst/>
          </a:prstGeom>
          <a:noFill/>
        </p:spPr>
        <p:txBody>
          <a:bodyPr wrap="square" rtlCol="0">
            <a:noAutofit/>
          </a:bodyPr>
          <a:lstStyle/>
          <a:p>
            <a:pPr algn="just">
              <a:lnSpc>
                <a:spcPct val="150000"/>
              </a:lnSpc>
            </a:pPr>
            <a:r>
              <a:rPr lang="en-US" b="1" dirty="0">
                <a:latin typeface="Times New Roman" panose="02020603050405020304" pitchFamily="18" charset="0"/>
                <a:cs typeface="Times New Roman" panose="02020603050405020304" pitchFamily="18" charset="0"/>
              </a:rPr>
              <a:t>       AI-Based Fruit Freshness and Expiry Prediction Using Images</a:t>
            </a:r>
          </a:p>
          <a:p>
            <a:pPr algn="just">
              <a:lnSpc>
                <a:spcPct val="150000"/>
              </a:lnSpc>
            </a:pP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Food freshness plays an important role in consumer health, food quality, and reducing food waste. Fruits are highly perishable and spoil quickly due to natural biological processes after harvesting. Traditional freshness checking methods rely on manual inspection, which is subjective and inconsistent. Sensor-based systems provide accuracy but are costly and complex. Recent advancements in Artificial Intelligence (AI) and Computer Vision allow automated freshness detection using images.</a:t>
            </a:r>
          </a:p>
          <a:p>
            <a:pPr algn="just">
              <a:lnSpc>
                <a:spcPct val="150000"/>
              </a:lnSpc>
            </a:pPr>
            <a:r>
              <a:rPr lang="en-US" dirty="0">
                <a:latin typeface="Times New Roman" panose="02020603050405020304" pitchFamily="18" charset="0"/>
                <a:cs typeface="Times New Roman" panose="02020603050405020304" pitchFamily="18" charset="0"/>
              </a:rPr>
              <a:t>This project proposes an AI-Based Fruit Freshness and Expiry Prediction Using Images.</a:t>
            </a:r>
          </a:p>
        </p:txBody>
      </p:sp>
    </p:spTree>
    <p:extLst>
      <p:ext uri="{BB962C8B-B14F-4D97-AF65-F5344CB8AC3E}">
        <p14:creationId xmlns:p14="http://schemas.microsoft.com/office/powerpoint/2010/main" val="4097339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stretch>
            <a:fillRect/>
          </a:stretch>
        </p:blipFill>
        <p:spPr>
          <a:xfrm>
            <a:off x="0" y="-363855"/>
            <a:ext cx="9143365" cy="7221855"/>
          </a:xfrm>
          <a:prstGeom prst="rect">
            <a:avLst/>
          </a:prstGeom>
          <a:solidFill>
            <a:srgbClr val="7030A0">
              <a:alpha val="23000"/>
            </a:srgbClr>
          </a:solidFill>
        </p:spPr>
      </p:pic>
      <p:sp>
        <p:nvSpPr>
          <p:cNvPr id="4" name="Title 3"/>
          <p:cNvSpPr>
            <a:spLocks noGrp="1"/>
          </p:cNvSpPr>
          <p:nvPr>
            <p:ph type="ctrTitle"/>
          </p:nvPr>
        </p:nvSpPr>
        <p:spPr>
          <a:xfrm>
            <a:off x="916304" y="211890"/>
            <a:ext cx="7310755" cy="656662"/>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r>
              <a:rPr lang="en-IN" altLang="en-US" sz="4000" dirty="0">
                <a:solidFill>
                  <a:schemeClr val="tx1"/>
                </a:solidFill>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030BE410-4872-7558-074C-4027E2C01B62}"/>
              </a:ext>
            </a:extLst>
          </p:cNvPr>
          <p:cNvSpPr txBox="1"/>
          <p:nvPr/>
        </p:nvSpPr>
        <p:spPr>
          <a:xfrm>
            <a:off x="1010515" y="1240428"/>
            <a:ext cx="7088456" cy="5078313"/>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Existing Research Studies</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1. Multi-Task CNN for Fruit Freshness Detection</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Used shared CNN architecture for freshness and fruit classification.</a:t>
            </a:r>
          </a:p>
          <a:p>
            <a:pPr algn="just"/>
            <a:r>
              <a:rPr lang="en-US" dirty="0">
                <a:latin typeface="Times New Roman" panose="02020603050405020304" pitchFamily="18" charset="0"/>
                <a:cs typeface="Times New Roman" panose="02020603050405020304" pitchFamily="18" charset="0"/>
              </a:rPr>
              <a:t>Achieved good accuracy.</a:t>
            </a:r>
          </a:p>
          <a:p>
            <a:pPr algn="just"/>
            <a:r>
              <a:rPr lang="en-US" b="1" dirty="0">
                <a:latin typeface="Times New Roman" panose="02020603050405020304" pitchFamily="18" charset="0"/>
                <a:cs typeface="Times New Roman" panose="02020603050405020304" pitchFamily="18" charset="0"/>
              </a:rPr>
              <a:t>Limitation: </a:t>
            </a:r>
            <a:r>
              <a:rPr lang="en-US" dirty="0">
                <a:latin typeface="Times New Roman" panose="02020603050405020304" pitchFamily="18" charset="0"/>
                <a:cs typeface="Times New Roman" panose="02020603050405020304" pitchFamily="18" charset="0"/>
              </a:rPr>
              <a:t>Works mainly in controlled environments and cannot estimate expiry days.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2. Machine Learning Approach for Fruit Freshness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Used image processing to classify freshness based on visual features.</a:t>
            </a:r>
          </a:p>
          <a:p>
            <a:pPr algn="just"/>
            <a:r>
              <a:rPr lang="en-US" dirty="0">
                <a:latin typeface="Times New Roman" panose="02020603050405020304" pitchFamily="18" charset="0"/>
                <a:cs typeface="Times New Roman" panose="02020603050405020304" pitchFamily="18" charset="0"/>
              </a:rPr>
              <a:t>Focused mainly on tomatoes.</a:t>
            </a:r>
          </a:p>
          <a:p>
            <a:pPr algn="just"/>
            <a:r>
              <a:rPr lang="en-US" b="1" dirty="0">
                <a:latin typeface="Times New Roman" panose="02020603050405020304" pitchFamily="18" charset="0"/>
                <a:cs typeface="Times New Roman" panose="02020603050405020304" pitchFamily="18" charset="0"/>
              </a:rPr>
              <a:t>Limitation: </a:t>
            </a:r>
            <a:r>
              <a:rPr lang="en-US" dirty="0">
                <a:latin typeface="Times New Roman" panose="02020603050405020304" pitchFamily="18" charset="0"/>
                <a:cs typeface="Times New Roman" panose="02020603050405020304" pitchFamily="18" charset="0"/>
              </a:rPr>
              <a:t>Limited fruit types and poor generalization.</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3. AI + IoT Based Food Spoilage Detection</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Combined CNN with sensors (gas, humidity, temperature).</a:t>
            </a:r>
          </a:p>
          <a:p>
            <a:pPr algn="just"/>
            <a:r>
              <a:rPr lang="en-US" dirty="0">
                <a:latin typeface="Times New Roman" panose="02020603050405020304" pitchFamily="18" charset="0"/>
                <a:cs typeface="Times New Roman" panose="02020603050405020304" pitchFamily="18" charset="0"/>
              </a:rPr>
              <a:t>Provided accurate spoilage monitoring.</a:t>
            </a:r>
          </a:p>
          <a:p>
            <a:pPr algn="just"/>
            <a:r>
              <a:rPr lang="en-US" b="1" dirty="0">
                <a:latin typeface="Times New Roman" panose="02020603050405020304" pitchFamily="18" charset="0"/>
                <a:cs typeface="Times New Roman" panose="02020603050405020304" pitchFamily="18" charset="0"/>
              </a:rPr>
              <a:t>Limitation: </a:t>
            </a:r>
            <a:r>
              <a:rPr lang="en-US" dirty="0">
                <a:latin typeface="Times New Roman" panose="02020603050405020304" pitchFamily="18" charset="0"/>
                <a:cs typeface="Times New Roman" panose="02020603050405020304" pitchFamily="18" charset="0"/>
              </a:rPr>
              <a:t>Expensive hardware and complex setup.</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83A1F-CF8E-D536-9DBD-C1716D8FF61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57457E6-D800-C2BC-5920-034491F11A29}"/>
              </a:ext>
            </a:extLst>
          </p:cNvPr>
          <p:cNvPicPr>
            <a:picLocks noChangeAspect="1"/>
          </p:cNvPicPr>
          <p:nvPr/>
        </p:nvPicPr>
        <p:blipFill>
          <a:blip r:embed="rId2" cstate="print"/>
          <a:stretch>
            <a:fillRect/>
          </a:stretch>
        </p:blipFill>
        <p:spPr>
          <a:xfrm>
            <a:off x="0" y="-363855"/>
            <a:ext cx="9143365" cy="7221855"/>
          </a:xfrm>
          <a:prstGeom prst="rect">
            <a:avLst/>
          </a:prstGeom>
          <a:solidFill>
            <a:srgbClr val="7030A0">
              <a:alpha val="23000"/>
            </a:srgbClr>
          </a:solidFill>
        </p:spPr>
      </p:pic>
      <p:sp>
        <p:nvSpPr>
          <p:cNvPr id="4" name="Title 3">
            <a:extLst>
              <a:ext uri="{FF2B5EF4-FFF2-40B4-BE49-F238E27FC236}">
                <a16:creationId xmlns:a16="http://schemas.microsoft.com/office/drawing/2014/main" id="{AE62AFDC-8D0A-5FC4-994D-9843EF85C579}"/>
              </a:ext>
            </a:extLst>
          </p:cNvPr>
          <p:cNvSpPr>
            <a:spLocks noGrp="1"/>
          </p:cNvSpPr>
          <p:nvPr>
            <p:ph type="ctrTitle"/>
          </p:nvPr>
        </p:nvSpPr>
        <p:spPr>
          <a:xfrm>
            <a:off x="916304" y="325773"/>
            <a:ext cx="7310755" cy="592531"/>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r>
              <a:rPr lang="en-IN" sz="4000" dirty="0">
                <a:latin typeface="Times New Roman" panose="02020603050405020304" pitchFamily="18" charset="0"/>
                <a:cs typeface="Times New Roman" panose="02020603050405020304" pitchFamily="18" charset="0"/>
              </a:rPr>
              <a:t>Problem Identification</a:t>
            </a:r>
            <a:endParaRPr lang="en-IN" altLang="en-US" sz="4000" b="0"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0BADFE0-7080-320A-ACE8-1499B6E6ABA3}"/>
              </a:ext>
            </a:extLst>
          </p:cNvPr>
          <p:cNvSpPr txBox="1"/>
          <p:nvPr/>
        </p:nvSpPr>
        <p:spPr>
          <a:xfrm>
            <a:off x="1073019" y="1607932"/>
            <a:ext cx="7016621" cy="2535566"/>
          </a:xfrm>
          <a:prstGeom prst="rect">
            <a:avLst/>
          </a:prstGeom>
          <a:noFill/>
        </p:spPr>
        <p:txBody>
          <a:bodyPr wrap="square" rtlCol="0">
            <a:spAutoFit/>
          </a:bodyPr>
          <a:lstStyle/>
          <a:p>
            <a:pPr lvl="0"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Current methods to check fruit freshness are not very reliable because they depend on human judgment, which can be wrong sometimes. Better systems do exist, but they are often expensive, complicated, or work only in limited situations. So, there is a need for a simple, affordable, and automatic system that can easily detect fruit freshness and estimate expiry days.</a:t>
            </a:r>
          </a:p>
        </p:txBody>
      </p:sp>
    </p:spTree>
    <p:extLst>
      <p:ext uri="{BB962C8B-B14F-4D97-AF65-F5344CB8AC3E}">
        <p14:creationId xmlns:p14="http://schemas.microsoft.com/office/powerpoint/2010/main" val="1937955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stretch>
            <a:fillRect/>
          </a:stretch>
        </p:blipFill>
        <p:spPr>
          <a:xfrm>
            <a:off x="635" y="0"/>
            <a:ext cx="9143365" cy="6857365"/>
          </a:xfrm>
          <a:prstGeom prst="rect">
            <a:avLst/>
          </a:prstGeom>
          <a:solidFill>
            <a:srgbClr val="7030A0">
              <a:alpha val="23000"/>
            </a:srgbClr>
          </a:solidFill>
        </p:spPr>
      </p:pic>
      <p:sp>
        <p:nvSpPr>
          <p:cNvPr id="4" name="Title 3"/>
          <p:cNvSpPr>
            <a:spLocks noGrp="1"/>
          </p:cNvSpPr>
          <p:nvPr>
            <p:ph type="ctrTitle"/>
          </p:nvPr>
        </p:nvSpPr>
        <p:spPr>
          <a:xfrm>
            <a:off x="-408805" y="512051"/>
            <a:ext cx="7734300" cy="619477"/>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pPr algn="ctr">
              <a:lnSpc>
                <a:spcPct val="100000"/>
              </a:lnSpc>
              <a:spcBef>
                <a:spcPts val="0"/>
              </a:spcBef>
              <a:spcAft>
                <a:spcPts val="0"/>
              </a:spcAft>
            </a:pPr>
            <a:r>
              <a:rPr lang="en-IN" altLang="en-US" sz="4000" dirty="0">
                <a:solidFill>
                  <a:schemeClr val="tx1"/>
                </a:solidFill>
                <a:latin typeface="Times New Roman" panose="02020603050405020304" pitchFamily="18" charset="0"/>
                <a:cs typeface="Times New Roman" panose="02020603050405020304" pitchFamily="18" charset="0"/>
              </a:rPr>
              <a:t>                  Objectives</a:t>
            </a:r>
          </a:p>
        </p:txBody>
      </p:sp>
      <p:sp>
        <p:nvSpPr>
          <p:cNvPr id="3" name="TextBox 2">
            <a:extLst>
              <a:ext uri="{FF2B5EF4-FFF2-40B4-BE49-F238E27FC236}">
                <a16:creationId xmlns:a16="http://schemas.microsoft.com/office/drawing/2014/main" id="{FB53894C-2473-7B21-27A4-7061DD68920D}"/>
              </a:ext>
            </a:extLst>
          </p:cNvPr>
          <p:cNvSpPr txBox="1"/>
          <p:nvPr/>
        </p:nvSpPr>
        <p:spPr>
          <a:xfrm>
            <a:off x="1735494" y="1643578"/>
            <a:ext cx="5590001" cy="1785104"/>
          </a:xfrm>
          <a:prstGeom prst="rect">
            <a:avLst/>
          </a:prstGeom>
          <a:noFill/>
        </p:spPr>
        <p:txBody>
          <a:bodyPr wrap="square">
            <a:spAutoFit/>
          </a:bodyPr>
          <a:lstStyle/>
          <a:p>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detect fruit freshness using deep learning.</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Classify fruits into fresh and rotten categories.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estimate remaining days to expiry.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54848-6660-29F0-4B56-3BB053F60CB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B19B98A-5E33-1C20-56CC-C8B2D5747D29}"/>
              </a:ext>
            </a:extLst>
          </p:cNvPr>
          <p:cNvPicPr>
            <a:picLocks noChangeAspect="1"/>
          </p:cNvPicPr>
          <p:nvPr/>
        </p:nvPicPr>
        <p:blipFill>
          <a:blip r:embed="rId2" cstate="print"/>
          <a:stretch>
            <a:fillRect/>
          </a:stretch>
        </p:blipFill>
        <p:spPr>
          <a:xfrm>
            <a:off x="635" y="635"/>
            <a:ext cx="9143365" cy="6857365"/>
          </a:xfrm>
          <a:prstGeom prst="rect">
            <a:avLst/>
          </a:prstGeom>
          <a:solidFill>
            <a:srgbClr val="7030A0">
              <a:alpha val="23000"/>
            </a:srgbClr>
          </a:solidFill>
        </p:spPr>
      </p:pic>
      <p:sp>
        <p:nvSpPr>
          <p:cNvPr id="4" name="Title 3">
            <a:extLst>
              <a:ext uri="{FF2B5EF4-FFF2-40B4-BE49-F238E27FC236}">
                <a16:creationId xmlns:a16="http://schemas.microsoft.com/office/drawing/2014/main" id="{3040A187-31B1-3772-F956-DA2B7053F3A1}"/>
              </a:ext>
            </a:extLst>
          </p:cNvPr>
          <p:cNvSpPr>
            <a:spLocks noGrp="1"/>
          </p:cNvSpPr>
          <p:nvPr>
            <p:ph type="ctrTitle"/>
          </p:nvPr>
        </p:nvSpPr>
        <p:spPr>
          <a:xfrm>
            <a:off x="469915" y="423644"/>
            <a:ext cx="7734300" cy="596407"/>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r>
              <a:rPr lang="en-IN" sz="4000" dirty="0">
                <a:latin typeface="Times New Roman" panose="02020603050405020304" pitchFamily="18" charset="0"/>
                <a:cs typeface="Times New Roman" panose="02020603050405020304" pitchFamily="18" charset="0"/>
              </a:rPr>
              <a:t>Scope</a:t>
            </a:r>
            <a:endParaRPr lang="en-IN" altLang="en-US" sz="4000" dirty="0">
              <a:solidFill>
                <a:schemeClr val="tx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14E5157-32C8-EA39-CF4D-613B49EACD2E}"/>
              </a:ext>
            </a:extLst>
          </p:cNvPr>
          <p:cNvSpPr txBox="1"/>
          <p:nvPr/>
        </p:nvSpPr>
        <p:spPr>
          <a:xfrm>
            <a:off x="1026367" y="1649643"/>
            <a:ext cx="7091265" cy="3693319"/>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scope of this project involves developing an AI-based system that can automatically detect fruit freshness and estimate expiry using image data. It focuses on applying computer vision and deep learning techniques to classify fruits into fresh and rotten categories across multiple types such as apple, banana</a:t>
            </a:r>
            <a:r>
              <a:rPr lang="en-US">
                <a:latin typeface="Times New Roman" panose="02020603050405020304" pitchFamily="18" charset="0"/>
                <a:cs typeface="Times New Roman" panose="02020603050405020304" pitchFamily="18" charset="0"/>
              </a:rPr>
              <a:t>, mango, orange, and grape. </a:t>
            </a:r>
            <a:r>
              <a:rPr lang="en-US" dirty="0">
                <a:latin typeface="Times New Roman" panose="02020603050405020304" pitchFamily="18" charset="0"/>
                <a:cs typeface="Times New Roman" panose="02020603050405020304" pitchFamily="18" charset="0"/>
              </a:rPr>
              <a:t>The system processes fruit images as input and produces accurate and consistent classification results, thereby reducing the errors and limitations associated with manual inspection.</a:t>
            </a:r>
          </a:p>
          <a:p>
            <a:endParaRPr lang="en-IN" dirty="0"/>
          </a:p>
        </p:txBody>
      </p:sp>
    </p:spTree>
    <p:extLst>
      <p:ext uri="{BB962C8B-B14F-4D97-AF65-F5344CB8AC3E}">
        <p14:creationId xmlns:p14="http://schemas.microsoft.com/office/powerpoint/2010/main" val="1345287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AB136-E7F4-D099-6F1B-3A54F75C758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16F727D-3BAB-2618-3486-E62DFA0E7341}"/>
              </a:ext>
            </a:extLst>
          </p:cNvPr>
          <p:cNvPicPr>
            <a:picLocks noChangeAspect="1"/>
          </p:cNvPicPr>
          <p:nvPr/>
        </p:nvPicPr>
        <p:blipFill>
          <a:blip r:embed="rId2" cstate="print"/>
          <a:stretch>
            <a:fillRect/>
          </a:stretch>
        </p:blipFill>
        <p:spPr>
          <a:xfrm>
            <a:off x="635" y="0"/>
            <a:ext cx="9143365" cy="6857365"/>
          </a:xfrm>
          <a:prstGeom prst="rect">
            <a:avLst/>
          </a:prstGeom>
          <a:solidFill>
            <a:srgbClr val="7030A0">
              <a:alpha val="23000"/>
            </a:srgbClr>
          </a:solidFill>
        </p:spPr>
      </p:pic>
      <p:sp>
        <p:nvSpPr>
          <p:cNvPr id="4" name="Title 3">
            <a:extLst>
              <a:ext uri="{FF2B5EF4-FFF2-40B4-BE49-F238E27FC236}">
                <a16:creationId xmlns:a16="http://schemas.microsoft.com/office/drawing/2014/main" id="{80C1262A-B3FE-A2BD-D8D6-F4C51E4CB8F0}"/>
              </a:ext>
            </a:extLst>
          </p:cNvPr>
          <p:cNvSpPr>
            <a:spLocks noGrp="1"/>
          </p:cNvSpPr>
          <p:nvPr>
            <p:ph type="ctrTitle"/>
          </p:nvPr>
        </p:nvSpPr>
        <p:spPr>
          <a:xfrm>
            <a:off x="401216" y="409648"/>
            <a:ext cx="7734300" cy="624399"/>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r>
              <a:rPr lang="en-IN" sz="4000" dirty="0">
                <a:latin typeface="Times New Roman" panose="02020603050405020304" pitchFamily="18" charset="0"/>
                <a:cs typeface="Times New Roman" panose="02020603050405020304" pitchFamily="18" charset="0"/>
              </a:rPr>
              <a:t>Block Diagram</a:t>
            </a:r>
            <a:endParaRPr lang="en-IN" altLang="en-US" sz="4000" dirty="0">
              <a:solidFill>
                <a:schemeClr val="tx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DDB17DE-AD0F-2CAB-E3D9-B206EA69F3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2881" y="1252824"/>
            <a:ext cx="6138238" cy="3818499"/>
          </a:xfrm>
          <a:prstGeom prst="rect">
            <a:avLst/>
          </a:prstGeom>
        </p:spPr>
      </p:pic>
      <p:sp>
        <p:nvSpPr>
          <p:cNvPr id="3" name="TextBox 2">
            <a:extLst>
              <a:ext uri="{FF2B5EF4-FFF2-40B4-BE49-F238E27FC236}">
                <a16:creationId xmlns:a16="http://schemas.microsoft.com/office/drawing/2014/main" id="{BBF8EBBF-EB55-E253-25E0-8B4986121740}"/>
              </a:ext>
            </a:extLst>
          </p:cNvPr>
          <p:cNvSpPr txBox="1"/>
          <p:nvPr/>
        </p:nvSpPr>
        <p:spPr>
          <a:xfrm>
            <a:off x="4114800" y="2974258"/>
            <a:ext cx="914400" cy="9144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62D7161E-A4BA-49BC-84E2-389C3018A310}"/>
              </a:ext>
            </a:extLst>
          </p:cNvPr>
          <p:cNvSpPr txBox="1"/>
          <p:nvPr/>
        </p:nvSpPr>
        <p:spPr>
          <a:xfrm>
            <a:off x="250722" y="5085454"/>
            <a:ext cx="8642555" cy="1435842"/>
          </a:xfrm>
          <a:prstGeom prst="rect">
            <a:avLst/>
          </a:prstGeom>
          <a:noFill/>
        </p:spPr>
        <p:txBody>
          <a:bodyPr wrap="square" rtlCol="0">
            <a:spAutoFit/>
          </a:bodyPr>
          <a:lstStyle/>
          <a:p>
            <a:pPr algn="just">
              <a:lnSpc>
                <a:spcPct val="150000"/>
              </a:lnSpc>
            </a:pPr>
            <a:r>
              <a:rPr lang="en-US" sz="1500" dirty="0">
                <a:latin typeface="Times New Roman" panose="02020603050405020304" pitchFamily="18" charset="0"/>
                <a:cs typeface="Times New Roman" panose="02020603050405020304" pitchFamily="18" charset="0"/>
              </a:rPr>
              <a:t>This diagram shows the workflow of an AI-based freshness detection system. The user uploads an image, which is preprocessed using resizing, normalization, and augmentation techniques. A CNN model then extracts features and classifies the image. Based on the prediction confidence, the system estimates freshness and shelf life. Finally, the results are displayed on a visualization dashboard.</a:t>
            </a:r>
          </a:p>
        </p:txBody>
      </p:sp>
    </p:spTree>
    <p:extLst>
      <p:ext uri="{BB962C8B-B14F-4D97-AF65-F5344CB8AC3E}">
        <p14:creationId xmlns:p14="http://schemas.microsoft.com/office/powerpoint/2010/main" val="2457363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AB136-E7F4-D099-6F1B-3A54F75C758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16F727D-3BAB-2618-3486-E62DFA0E7341}"/>
              </a:ext>
            </a:extLst>
          </p:cNvPr>
          <p:cNvPicPr>
            <a:picLocks noChangeAspect="1"/>
          </p:cNvPicPr>
          <p:nvPr/>
        </p:nvPicPr>
        <p:blipFill>
          <a:blip r:embed="rId2" cstate="print"/>
          <a:stretch>
            <a:fillRect/>
          </a:stretch>
        </p:blipFill>
        <p:spPr>
          <a:xfrm>
            <a:off x="635" y="0"/>
            <a:ext cx="9143365" cy="6857365"/>
          </a:xfrm>
          <a:prstGeom prst="rect">
            <a:avLst/>
          </a:prstGeom>
          <a:solidFill>
            <a:srgbClr val="7030A0">
              <a:alpha val="23000"/>
            </a:srgbClr>
          </a:solidFill>
        </p:spPr>
      </p:pic>
      <p:sp>
        <p:nvSpPr>
          <p:cNvPr id="4" name="Title 3">
            <a:extLst>
              <a:ext uri="{FF2B5EF4-FFF2-40B4-BE49-F238E27FC236}">
                <a16:creationId xmlns:a16="http://schemas.microsoft.com/office/drawing/2014/main" id="{80C1262A-B3FE-A2BD-D8D6-F4C51E4CB8F0}"/>
              </a:ext>
            </a:extLst>
          </p:cNvPr>
          <p:cNvSpPr>
            <a:spLocks noGrp="1"/>
          </p:cNvSpPr>
          <p:nvPr>
            <p:ph type="ctrTitle"/>
          </p:nvPr>
        </p:nvSpPr>
        <p:spPr>
          <a:xfrm>
            <a:off x="704850" y="386633"/>
            <a:ext cx="7734300" cy="560424"/>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r>
              <a:rPr lang="en-IN" altLang="en-US" sz="3600" dirty="0">
                <a:solidFill>
                  <a:schemeClr val="tx1"/>
                </a:solidFill>
                <a:latin typeface="Times New Roman" panose="02020603050405020304" pitchFamily="18" charset="0"/>
                <a:cs typeface="Times New Roman" panose="02020603050405020304" pitchFamily="18" charset="0"/>
              </a:rPr>
              <a:t>Methodology  &amp;  </a:t>
            </a:r>
            <a:r>
              <a:rPr lang="en-IN" sz="3600" dirty="0">
                <a:latin typeface="Times New Roman" panose="02020603050405020304" pitchFamily="18" charset="0"/>
                <a:cs typeface="Times New Roman" panose="02020603050405020304" pitchFamily="18" charset="0"/>
              </a:rPr>
              <a:t>Technologies</a:t>
            </a:r>
            <a:endParaRPr lang="en-IN" altLang="en-US" sz="3600"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7619383-4A01-2E62-C949-EC67423BCE9F}"/>
              </a:ext>
            </a:extLst>
          </p:cNvPr>
          <p:cNvSpPr txBox="1"/>
          <p:nvPr/>
        </p:nvSpPr>
        <p:spPr>
          <a:xfrm>
            <a:off x="1060898" y="1367933"/>
            <a:ext cx="7719048" cy="4893647"/>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Methodology (Working Process) :</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Image Upload</a:t>
            </a:r>
          </a:p>
          <a:p>
            <a:pPr algn="just"/>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User uploads fruit image via web application.</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Image Preprocessing</a:t>
            </a:r>
          </a:p>
          <a:p>
            <a:pPr algn="just"/>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Resize and normalize images.</a:t>
            </a:r>
          </a:p>
          <a:p>
            <a:pPr algn="just"/>
            <a:r>
              <a:rPr lang="en-US" dirty="0">
                <a:latin typeface="Times New Roman" panose="02020603050405020304" pitchFamily="18" charset="0"/>
                <a:cs typeface="Times New Roman" panose="02020603050405020304" pitchFamily="18" charset="0"/>
              </a:rPr>
              <a:t>-Apply augmentation for better learning.</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CNN Model Classification</a:t>
            </a:r>
          </a:p>
          <a:p>
            <a:pPr algn="just"/>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Deep learning model extracts features like color, texture, and damage.</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Freshness &amp; Expiry Days Estimation</a:t>
            </a:r>
          </a:p>
          <a:p>
            <a:pPr algn="just"/>
            <a:r>
              <a:rPr lang="en-US" dirty="0">
                <a:latin typeface="Times New Roman" panose="02020603050405020304" pitchFamily="18" charset="0"/>
                <a:cs typeface="Times New Roman" panose="02020603050405020304" pitchFamily="18" charset="0"/>
              </a:rPr>
              <a:t>-Confidence score converted into freshness percentage and grades.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Result Visualization</a:t>
            </a:r>
          </a:p>
          <a:p>
            <a:pPr algn="just"/>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Dashboard shows prediction, quality grade, and expiry estimation.</a:t>
            </a:r>
          </a:p>
        </p:txBody>
      </p:sp>
    </p:spTree>
    <p:extLst>
      <p:ext uri="{BB962C8B-B14F-4D97-AF65-F5344CB8AC3E}">
        <p14:creationId xmlns:p14="http://schemas.microsoft.com/office/powerpoint/2010/main" val="3723661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2FDBF-EC0D-0DFF-EEAC-FDA94FFD436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8485C60-377F-A35C-310B-3AF38160E3FD}"/>
              </a:ext>
            </a:extLst>
          </p:cNvPr>
          <p:cNvPicPr>
            <a:picLocks noChangeAspect="1"/>
          </p:cNvPicPr>
          <p:nvPr/>
        </p:nvPicPr>
        <p:blipFill>
          <a:blip r:embed="rId2" cstate="print"/>
          <a:stretch>
            <a:fillRect/>
          </a:stretch>
        </p:blipFill>
        <p:spPr>
          <a:xfrm>
            <a:off x="635" y="0"/>
            <a:ext cx="9143365" cy="6857365"/>
          </a:xfrm>
          <a:prstGeom prst="rect">
            <a:avLst/>
          </a:prstGeom>
          <a:solidFill>
            <a:srgbClr val="7030A0">
              <a:alpha val="23000"/>
            </a:srgbClr>
          </a:solidFill>
        </p:spPr>
      </p:pic>
      <p:sp>
        <p:nvSpPr>
          <p:cNvPr id="4" name="Title 3">
            <a:extLst>
              <a:ext uri="{FF2B5EF4-FFF2-40B4-BE49-F238E27FC236}">
                <a16:creationId xmlns:a16="http://schemas.microsoft.com/office/drawing/2014/main" id="{0B91BC82-A4F1-4C32-27F2-E6D7E621B909}"/>
              </a:ext>
            </a:extLst>
          </p:cNvPr>
          <p:cNvSpPr>
            <a:spLocks noGrp="1"/>
          </p:cNvSpPr>
          <p:nvPr>
            <p:ph type="ctrTitle"/>
          </p:nvPr>
        </p:nvSpPr>
        <p:spPr>
          <a:xfrm>
            <a:off x="704850" y="391580"/>
            <a:ext cx="7734300" cy="584774"/>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r>
              <a:rPr lang="en-IN" altLang="en-US" sz="3600" dirty="0">
                <a:solidFill>
                  <a:schemeClr val="tx1"/>
                </a:solidFill>
                <a:latin typeface="Times New Roman" panose="02020603050405020304" pitchFamily="18" charset="0"/>
                <a:cs typeface="Times New Roman" panose="02020603050405020304" pitchFamily="18" charset="0"/>
              </a:rPr>
              <a:t>Methodology  &amp;  </a:t>
            </a:r>
            <a:r>
              <a:rPr lang="en-IN" sz="3600" dirty="0">
                <a:latin typeface="Times New Roman" panose="02020603050405020304" pitchFamily="18" charset="0"/>
                <a:cs typeface="Times New Roman" panose="02020603050405020304" pitchFamily="18" charset="0"/>
              </a:rPr>
              <a:t>Technologies</a:t>
            </a:r>
            <a:endParaRPr lang="en-IN" altLang="en-US" sz="3600" dirty="0">
              <a:solidFill>
                <a:schemeClr val="tx1"/>
              </a:solidFill>
            </a:endParaRPr>
          </a:p>
        </p:txBody>
      </p:sp>
      <p:sp>
        <p:nvSpPr>
          <p:cNvPr id="3" name="TextBox 2">
            <a:extLst>
              <a:ext uri="{FF2B5EF4-FFF2-40B4-BE49-F238E27FC236}">
                <a16:creationId xmlns:a16="http://schemas.microsoft.com/office/drawing/2014/main" id="{34953BE8-BF24-002E-DD25-F51F2FA0CF74}"/>
              </a:ext>
            </a:extLst>
          </p:cNvPr>
          <p:cNvSpPr txBox="1"/>
          <p:nvPr/>
        </p:nvSpPr>
        <p:spPr>
          <a:xfrm>
            <a:off x="1014245" y="1443696"/>
            <a:ext cx="7719048"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Technologies :</a:t>
            </a:r>
          </a:p>
        </p:txBody>
      </p:sp>
      <p:sp>
        <p:nvSpPr>
          <p:cNvPr id="2" name="TextBox 1">
            <a:extLst>
              <a:ext uri="{FF2B5EF4-FFF2-40B4-BE49-F238E27FC236}">
                <a16:creationId xmlns:a16="http://schemas.microsoft.com/office/drawing/2014/main" id="{6699B410-5DB6-9AAB-5CE3-F4D1C71C102E}"/>
              </a:ext>
            </a:extLst>
          </p:cNvPr>
          <p:cNvSpPr txBox="1"/>
          <p:nvPr/>
        </p:nvSpPr>
        <p:spPr>
          <a:xfrm>
            <a:off x="1014245" y="1905361"/>
            <a:ext cx="7344224" cy="4613058"/>
          </a:xfrm>
          <a:prstGeom prst="rect">
            <a:avLst/>
          </a:prstGeom>
          <a:noFill/>
        </p:spPr>
        <p:txBody>
          <a:bodyPr wrap="square" rtlCol="0">
            <a:spAutoFit/>
          </a:bodyPr>
          <a:lstStyle/>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Python &amp; </a:t>
            </a:r>
            <a:r>
              <a:rPr lang="en-US" altLang="en-US" b="1" dirty="0" err="1">
                <a:latin typeface="Times New Roman" panose="02020603050405020304" pitchFamily="18" charset="0"/>
                <a:cs typeface="Times New Roman" panose="02020603050405020304" pitchFamily="18" charset="0"/>
              </a:rPr>
              <a:t>Jupyter</a:t>
            </a:r>
            <a:r>
              <a:rPr lang="en-US" altLang="en-US" b="1" dirty="0">
                <a:latin typeface="Times New Roman" panose="02020603050405020304" pitchFamily="18" charset="0"/>
                <a:cs typeface="Times New Roman" panose="02020603050405020304" pitchFamily="18" charset="0"/>
              </a:rPr>
              <a:t> Notebook</a:t>
            </a:r>
            <a:r>
              <a:rPr lang="en-US" altLang="en-US" dirty="0">
                <a:latin typeface="Times New Roman" panose="02020603050405020304" pitchFamily="18" charset="0"/>
                <a:cs typeface="Times New Roman" panose="02020603050405020304" pitchFamily="18" charset="0"/>
              </a:rPr>
              <a:t> for development and model training</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TensorFlow &amp; </a:t>
            </a:r>
            <a:r>
              <a:rPr lang="en-US" altLang="en-US" b="1" dirty="0" err="1">
                <a:latin typeface="Times New Roman" panose="02020603050405020304" pitchFamily="18" charset="0"/>
                <a:cs typeface="Times New Roman" panose="02020603050405020304" pitchFamily="18" charset="0"/>
              </a:rPr>
              <a:t>Keras</a:t>
            </a:r>
            <a:r>
              <a:rPr lang="en-US" altLang="en-US" b="1" dirty="0">
                <a:latin typeface="Times New Roman" panose="02020603050405020304" pitchFamily="18" charset="0"/>
                <a:cs typeface="Times New Roman" panose="02020603050405020304" pitchFamily="18" charset="0"/>
              </a:rPr>
              <a:t> (CNN)</a:t>
            </a:r>
            <a:r>
              <a:rPr lang="en-US" altLang="en-US" dirty="0">
                <a:latin typeface="Times New Roman" panose="02020603050405020304" pitchFamily="18" charset="0"/>
                <a:cs typeface="Times New Roman" panose="02020603050405020304" pitchFamily="18" charset="0"/>
              </a:rPr>
              <a:t> for fruit freshness classification</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OpenCV</a:t>
            </a:r>
            <a:r>
              <a:rPr lang="en-US" altLang="en-US" dirty="0">
                <a:latin typeface="Times New Roman" panose="02020603050405020304" pitchFamily="18" charset="0"/>
                <a:cs typeface="Times New Roman" panose="02020603050405020304" pitchFamily="18" charset="0"/>
              </a:rPr>
              <a:t> for image preprocessing</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NumPy &amp; Pandas</a:t>
            </a:r>
            <a:r>
              <a:rPr lang="en-US" altLang="en-US" dirty="0">
                <a:latin typeface="Times New Roman" panose="02020603050405020304" pitchFamily="18" charset="0"/>
                <a:cs typeface="Times New Roman" panose="02020603050405020304" pitchFamily="18" charset="0"/>
              </a:rPr>
              <a:t> for data handling</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Matplotlib</a:t>
            </a:r>
            <a:r>
              <a:rPr lang="en-US" altLang="en-US" dirty="0">
                <a:latin typeface="Times New Roman" panose="02020603050405020304" pitchFamily="18" charset="0"/>
                <a:cs typeface="Times New Roman" panose="02020603050405020304" pitchFamily="18" charset="0"/>
              </a:rPr>
              <a:t> for performance visualization</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Flask</a:t>
            </a:r>
            <a:r>
              <a:rPr lang="en-US" altLang="en-US" dirty="0">
                <a:latin typeface="Times New Roman" panose="02020603050405020304" pitchFamily="18" charset="0"/>
                <a:cs typeface="Times New Roman" panose="02020603050405020304" pitchFamily="18" charset="0"/>
              </a:rPr>
              <a:t> for web-based user interface and deployment</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Data Augmentation &amp; Preprocessing</a:t>
            </a:r>
            <a:r>
              <a:rPr lang="en-US" altLang="en-US" dirty="0">
                <a:latin typeface="Times New Roman" panose="02020603050405020304" pitchFamily="18" charset="0"/>
                <a:cs typeface="Times New Roman" panose="02020603050405020304" pitchFamily="18" charset="0"/>
              </a:rPr>
              <a:t> to improve accuracy</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b="1" dirty="0" err="1">
                <a:latin typeface="Times New Roman" panose="02020603050405020304" pitchFamily="18" charset="0"/>
                <a:cs typeface="Times New Roman" panose="02020603050405020304" pitchFamily="18" charset="0"/>
              </a:rPr>
              <a:t>Softmax</a:t>
            </a:r>
            <a:r>
              <a:rPr lang="en-US" altLang="en-US" b="1" dirty="0">
                <a:latin typeface="Times New Roman" panose="02020603050405020304" pitchFamily="18" charset="0"/>
                <a:cs typeface="Times New Roman" panose="02020603050405020304" pitchFamily="18" charset="0"/>
              </a:rPr>
              <a:t>, Cross-Entropy, Adam Optimizer</a:t>
            </a:r>
            <a:r>
              <a:rPr lang="en-US" altLang="en-US" dirty="0">
                <a:latin typeface="Times New Roman" panose="02020603050405020304" pitchFamily="18" charset="0"/>
                <a:cs typeface="Times New Roman" panose="02020603050405020304" pitchFamily="18" charset="0"/>
              </a:rPr>
              <a:t> for model training</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Rule-based system</a:t>
            </a:r>
            <a:r>
              <a:rPr lang="en-US" altLang="en-US" dirty="0">
                <a:latin typeface="Times New Roman" panose="02020603050405020304" pitchFamily="18" charset="0"/>
                <a:cs typeface="Times New Roman" panose="02020603050405020304" pitchFamily="18" charset="0"/>
              </a:rPr>
              <a:t> for freshness grading and expiry prediction</a:t>
            </a:r>
          </a:p>
          <a:p>
            <a:pPr lvl="0"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 Overall, the system combines </a:t>
            </a:r>
            <a:r>
              <a:rPr lang="en-US" altLang="en-US" b="1" dirty="0">
                <a:latin typeface="Times New Roman" panose="02020603050405020304" pitchFamily="18" charset="0"/>
                <a:cs typeface="Times New Roman" panose="02020603050405020304" pitchFamily="18" charset="0"/>
              </a:rPr>
              <a:t>AI, computer vision, and web technologies</a:t>
            </a:r>
            <a:r>
              <a:rPr lang="en-US" altLang="en-US" dirty="0">
                <a:latin typeface="Times New Roman" panose="02020603050405020304" pitchFamily="18" charset="0"/>
                <a:cs typeface="Times New Roman" panose="02020603050405020304" pitchFamily="18" charset="0"/>
              </a:rPr>
              <a:t> to create an automated fruit freshness detection solution.</a:t>
            </a:r>
          </a:p>
        </p:txBody>
      </p:sp>
    </p:spTree>
    <p:extLst>
      <p:ext uri="{BB962C8B-B14F-4D97-AF65-F5344CB8AC3E}">
        <p14:creationId xmlns:p14="http://schemas.microsoft.com/office/powerpoint/2010/main" val="1370811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C5C35-3A9D-D1E3-71BC-0B48C68A9D9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5CC6057-ED54-19AA-D45C-39779EBB6DE4}"/>
              </a:ext>
            </a:extLst>
          </p:cNvPr>
          <p:cNvPicPr>
            <a:picLocks noChangeAspect="1"/>
          </p:cNvPicPr>
          <p:nvPr/>
        </p:nvPicPr>
        <p:blipFill>
          <a:blip r:embed="rId2" cstate="print"/>
          <a:stretch>
            <a:fillRect/>
          </a:stretch>
        </p:blipFill>
        <p:spPr>
          <a:xfrm>
            <a:off x="0" y="-36576"/>
            <a:ext cx="9143365" cy="6894576"/>
          </a:xfrm>
          <a:prstGeom prst="rect">
            <a:avLst/>
          </a:prstGeom>
          <a:solidFill>
            <a:srgbClr val="7030A0">
              <a:alpha val="23000"/>
            </a:srgbClr>
          </a:solidFill>
        </p:spPr>
      </p:pic>
      <p:sp>
        <p:nvSpPr>
          <p:cNvPr id="4" name="Title 3">
            <a:extLst>
              <a:ext uri="{FF2B5EF4-FFF2-40B4-BE49-F238E27FC236}">
                <a16:creationId xmlns:a16="http://schemas.microsoft.com/office/drawing/2014/main" id="{CDF7CD5E-A92A-6080-EF9D-9FFDBB640847}"/>
              </a:ext>
            </a:extLst>
          </p:cNvPr>
          <p:cNvSpPr>
            <a:spLocks noGrp="1"/>
          </p:cNvSpPr>
          <p:nvPr>
            <p:ph type="ctrTitle"/>
          </p:nvPr>
        </p:nvSpPr>
        <p:spPr>
          <a:xfrm>
            <a:off x="606490" y="381601"/>
            <a:ext cx="7734300" cy="680494"/>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r>
              <a:rPr lang="en-IN" sz="4000" dirty="0">
                <a:latin typeface="Times New Roman" panose="02020603050405020304" pitchFamily="18" charset="0"/>
                <a:cs typeface="Times New Roman" panose="02020603050405020304" pitchFamily="18" charset="0"/>
              </a:rPr>
              <a:t>Implementation Details</a:t>
            </a:r>
            <a:endParaRPr lang="en-IN" altLang="en-US" sz="4000"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6954E77-AD11-E8D4-6944-60CADC9F1289}"/>
              </a:ext>
            </a:extLst>
          </p:cNvPr>
          <p:cNvSpPr txBox="1"/>
          <p:nvPr/>
        </p:nvSpPr>
        <p:spPr>
          <a:xfrm>
            <a:off x="1026367" y="1062095"/>
            <a:ext cx="7815669" cy="5588068"/>
          </a:xfrm>
          <a:prstGeom prst="rect">
            <a:avLst/>
          </a:prstGeom>
          <a:noFill/>
        </p:spPr>
        <p:txBody>
          <a:bodyPr wrap="square">
            <a:spAutoFit/>
          </a:bodyPr>
          <a:lstStyle/>
          <a:p>
            <a:pPr lvl="0" algn="just" eaLnBrk="0" fontAlgn="base" hangingPunct="0">
              <a:lnSpc>
                <a:spcPct val="150000"/>
              </a:lnSpc>
              <a:spcBef>
                <a:spcPct val="0"/>
              </a:spcBef>
              <a:spcAft>
                <a:spcPct val="0"/>
              </a:spcAft>
            </a:pPr>
            <a:endParaRPr lang="en-US" altLang="en-US" sz="1600"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Developed using </a:t>
            </a:r>
            <a:r>
              <a:rPr lang="en-US" altLang="en-US" sz="1600" b="1" dirty="0">
                <a:latin typeface="Times New Roman" panose="02020603050405020304" pitchFamily="18" charset="0"/>
                <a:cs typeface="Times New Roman" panose="02020603050405020304" pitchFamily="18" charset="0"/>
              </a:rPr>
              <a:t>CNN (TensorFlow/</a:t>
            </a:r>
            <a:r>
              <a:rPr lang="en-US" altLang="en-US" sz="1600" b="1" dirty="0" err="1">
                <a:latin typeface="Times New Roman" panose="02020603050405020304" pitchFamily="18" charset="0"/>
                <a:cs typeface="Times New Roman" panose="02020603050405020304" pitchFamily="18" charset="0"/>
              </a:rPr>
              <a:t>Keras</a:t>
            </a:r>
            <a:r>
              <a:rPr lang="en-US" altLang="en-US" sz="1600" b="1" dirty="0">
                <a:latin typeface="Times New Roman" panose="02020603050405020304" pitchFamily="18" charset="0"/>
                <a:cs typeface="Times New Roman" panose="02020603050405020304" pitchFamily="18" charset="0"/>
              </a:rPr>
              <a:t>)</a:t>
            </a:r>
            <a:r>
              <a:rPr lang="en-US" altLang="en-US" sz="1600" dirty="0">
                <a:latin typeface="Times New Roman" panose="02020603050405020304" pitchFamily="18" charset="0"/>
                <a:cs typeface="Times New Roman" panose="02020603050405020304" pitchFamily="18" charset="0"/>
              </a:rPr>
              <a:t> for fruit classification </a:t>
            </a:r>
          </a:p>
          <a:p>
            <a:pPr lvl="0" algn="just" eaLnBrk="0" fontAlgn="base" hangingPunct="0">
              <a:lnSpc>
                <a:spcPct val="150000"/>
              </a:lnSpc>
              <a:spcBef>
                <a:spcPct val="0"/>
              </a:spcBef>
              <a:spcAft>
                <a:spcPct val="0"/>
              </a:spcAft>
              <a:buFontTx/>
              <a:buChar char="•"/>
            </a:pPr>
            <a:r>
              <a:rPr lang="en-US" altLang="en-US" sz="1600" b="1" dirty="0">
                <a:latin typeface="Times New Roman" panose="02020603050405020304" pitchFamily="18" charset="0"/>
                <a:cs typeface="Times New Roman" panose="02020603050405020304" pitchFamily="18" charset="0"/>
              </a:rPr>
              <a:t>Flask web app</a:t>
            </a:r>
            <a:r>
              <a:rPr lang="en-US" altLang="en-US" sz="1600" dirty="0">
                <a:latin typeface="Times New Roman" panose="02020603050405020304" pitchFamily="18" charset="0"/>
                <a:cs typeface="Times New Roman" panose="02020603050405020304" pitchFamily="18" charset="0"/>
              </a:rPr>
              <a:t> for user interaction </a:t>
            </a:r>
          </a:p>
          <a:p>
            <a:pPr lvl="0" algn="just"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Image preprocessing using </a:t>
            </a:r>
            <a:r>
              <a:rPr lang="en-US" altLang="en-US" sz="1600" b="1" dirty="0">
                <a:latin typeface="Times New Roman" panose="02020603050405020304" pitchFamily="18" charset="0"/>
                <a:cs typeface="Times New Roman" panose="02020603050405020304" pitchFamily="18" charset="0"/>
              </a:rPr>
              <a:t>OpenCV</a:t>
            </a:r>
            <a:r>
              <a:rPr lang="en-US" altLang="en-US" sz="1600" dirty="0">
                <a:latin typeface="Times New Roman" panose="02020603050405020304" pitchFamily="18" charset="0"/>
                <a:cs typeface="Times New Roman" panose="02020603050405020304" pitchFamily="18" charset="0"/>
              </a:rPr>
              <a:t> (resize, normalize, RGB conversion) </a:t>
            </a:r>
          </a:p>
          <a:p>
            <a:pPr lvl="0" algn="just" eaLnBrk="0" fontAlgn="base" hangingPunct="0">
              <a:lnSpc>
                <a:spcPct val="150000"/>
              </a:lnSpc>
              <a:spcBef>
                <a:spcPct val="0"/>
              </a:spcBef>
              <a:spcAft>
                <a:spcPct val="0"/>
              </a:spcAft>
              <a:buFontTx/>
              <a:buChar char="•"/>
            </a:pPr>
            <a:r>
              <a:rPr lang="en-US" altLang="en-US" sz="1600" b="1" dirty="0">
                <a:latin typeface="Times New Roman" panose="02020603050405020304" pitchFamily="18" charset="0"/>
                <a:cs typeface="Times New Roman" panose="02020603050405020304" pitchFamily="18" charset="0"/>
              </a:rPr>
              <a:t>Data augmentation</a:t>
            </a:r>
            <a:r>
              <a:rPr lang="en-US" altLang="en-US" sz="1600" dirty="0">
                <a:latin typeface="Times New Roman" panose="02020603050405020304" pitchFamily="18" charset="0"/>
                <a:cs typeface="Times New Roman" panose="02020603050405020304" pitchFamily="18" charset="0"/>
              </a:rPr>
              <a:t> (rotation, flipping, zoom) to improve accuracy </a:t>
            </a:r>
          </a:p>
          <a:p>
            <a:pPr lvl="0" algn="just"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Model classifies into </a:t>
            </a:r>
            <a:r>
              <a:rPr lang="en-US" altLang="en-US" sz="1600" b="1" dirty="0">
                <a:latin typeface="Times New Roman" panose="02020603050405020304" pitchFamily="18" charset="0"/>
                <a:cs typeface="Times New Roman" panose="02020603050405020304" pitchFamily="18" charset="0"/>
              </a:rPr>
              <a:t>10 categories</a:t>
            </a:r>
            <a:r>
              <a:rPr lang="en-US" altLang="en-US" sz="1600" dirty="0">
                <a:latin typeface="Times New Roman" panose="02020603050405020304" pitchFamily="18" charset="0"/>
                <a:cs typeface="Times New Roman" panose="02020603050405020304" pitchFamily="18" charset="0"/>
              </a:rPr>
              <a:t> (Fresh/Rotten: Apple, Banana, Orange, Grape and Mango) </a:t>
            </a:r>
          </a:p>
          <a:p>
            <a:pPr lvl="0" algn="just" eaLnBrk="0" fontAlgn="base" hangingPunct="0">
              <a:lnSpc>
                <a:spcPct val="150000"/>
              </a:lnSpc>
              <a:spcBef>
                <a:spcPct val="0"/>
              </a:spcBef>
              <a:spcAft>
                <a:spcPct val="0"/>
              </a:spcAft>
              <a:buFontTx/>
              <a:buChar char="•"/>
            </a:pPr>
            <a:r>
              <a:rPr lang="en-US" altLang="en-US" sz="1600" b="1" dirty="0" err="1">
                <a:latin typeface="Times New Roman" panose="02020603050405020304" pitchFamily="18" charset="0"/>
                <a:cs typeface="Times New Roman" panose="02020603050405020304" pitchFamily="18" charset="0"/>
              </a:rPr>
              <a:t>Softmax</a:t>
            </a:r>
            <a:r>
              <a:rPr lang="en-US" altLang="en-US" sz="1600" b="1" dirty="0">
                <a:latin typeface="Times New Roman" panose="02020603050405020304" pitchFamily="18" charset="0"/>
                <a:cs typeface="Times New Roman" panose="02020603050405020304" pitchFamily="18" charset="0"/>
              </a:rPr>
              <a:t> output</a:t>
            </a:r>
            <a:r>
              <a:rPr lang="en-US" altLang="en-US" sz="1600" dirty="0">
                <a:latin typeface="Times New Roman" panose="02020603050405020304" pitchFamily="18" charset="0"/>
                <a:cs typeface="Times New Roman" panose="02020603050405020304" pitchFamily="18" charset="0"/>
              </a:rPr>
              <a:t> used to get prediction confidence </a:t>
            </a:r>
          </a:p>
          <a:p>
            <a:pPr lvl="0" algn="just"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Confidence converted into: </a:t>
            </a:r>
          </a:p>
          <a:p>
            <a:pPr lvl="1" algn="just"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Freshness percentage </a:t>
            </a:r>
          </a:p>
          <a:p>
            <a:pPr lvl="1" algn="just"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Quality grades (A+, A, B, Reject) </a:t>
            </a:r>
          </a:p>
          <a:p>
            <a:pPr lvl="1" algn="just"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Estimated expiry days </a:t>
            </a:r>
          </a:p>
          <a:p>
            <a:pPr lvl="0" algn="just" eaLnBrk="0" fontAlgn="base" hangingPunct="0">
              <a:lnSpc>
                <a:spcPct val="150000"/>
              </a:lnSpc>
              <a:spcBef>
                <a:spcPct val="0"/>
              </a:spcBef>
              <a:spcAft>
                <a:spcPct val="0"/>
              </a:spcAft>
              <a:buFontTx/>
              <a:buChar char="•"/>
            </a:pPr>
            <a:r>
              <a:rPr lang="en-US" altLang="en-US" sz="1600" b="1" dirty="0">
                <a:latin typeface="Times New Roman" panose="02020603050405020304" pitchFamily="18" charset="0"/>
                <a:cs typeface="Times New Roman" panose="02020603050405020304" pitchFamily="18" charset="0"/>
              </a:rPr>
              <a:t>Rule-based system</a:t>
            </a:r>
            <a:r>
              <a:rPr lang="en-US" altLang="en-US" sz="1600" dirty="0">
                <a:latin typeface="Times New Roman" panose="02020603050405020304" pitchFamily="18" charset="0"/>
                <a:cs typeface="Times New Roman" panose="02020603050405020304" pitchFamily="18" charset="0"/>
              </a:rPr>
              <a:t> used for expiry prediction  </a:t>
            </a:r>
          </a:p>
          <a:p>
            <a:pPr lvl="0" algn="just"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Results displayed on </a:t>
            </a:r>
            <a:r>
              <a:rPr lang="en-US" altLang="en-US" sz="1600" b="1" dirty="0">
                <a:latin typeface="Times New Roman" panose="02020603050405020304" pitchFamily="18" charset="0"/>
                <a:cs typeface="Times New Roman" panose="02020603050405020304" pitchFamily="18" charset="0"/>
              </a:rPr>
              <a:t>interactive dashboard</a:t>
            </a:r>
            <a:r>
              <a:rPr lang="en-US" altLang="en-US" sz="1600" dirty="0">
                <a:latin typeface="Times New Roman" panose="02020603050405020304" pitchFamily="18" charset="0"/>
                <a:cs typeface="Times New Roman" panose="02020603050405020304" pitchFamily="18" charset="0"/>
              </a:rPr>
              <a:t> (class, confidence, grade, expiry) </a:t>
            </a:r>
          </a:p>
          <a:p>
            <a:pPr lvl="0" algn="just" eaLnBrk="0" fontAlgn="base" hangingPunct="0">
              <a:lnSpc>
                <a:spcPct val="150000"/>
              </a:lnSpc>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Achieved </a:t>
            </a:r>
            <a:r>
              <a:rPr lang="en-US" altLang="en-US" sz="1600" b="1" dirty="0">
                <a:latin typeface="Times New Roman" panose="02020603050405020304" pitchFamily="18" charset="0"/>
                <a:cs typeface="Times New Roman" panose="02020603050405020304" pitchFamily="18" charset="0"/>
              </a:rPr>
              <a:t>~89.8% accuracy</a:t>
            </a:r>
            <a:r>
              <a:rPr lang="en-US" altLang="en-US" sz="1600" dirty="0">
                <a:latin typeface="Times New Roman" panose="02020603050405020304" pitchFamily="18" charset="0"/>
                <a:cs typeface="Times New Roman" panose="02020603050405020304" pitchFamily="18" charset="0"/>
              </a:rPr>
              <a:t> with strong performance metrics </a:t>
            </a:r>
          </a:p>
        </p:txBody>
      </p:sp>
    </p:spTree>
    <p:extLst>
      <p:ext uri="{BB962C8B-B14F-4D97-AF65-F5344CB8AC3E}">
        <p14:creationId xmlns:p14="http://schemas.microsoft.com/office/powerpoint/2010/main" val="2399101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stretch>
            <a:fillRect/>
          </a:stretch>
        </p:blipFill>
        <p:spPr>
          <a:xfrm>
            <a:off x="635" y="0"/>
            <a:ext cx="9143365" cy="6857365"/>
          </a:xfrm>
          <a:prstGeom prst="rect">
            <a:avLst/>
          </a:prstGeom>
          <a:solidFill>
            <a:srgbClr val="7030A0">
              <a:alpha val="23000"/>
            </a:srgbClr>
          </a:solidFill>
        </p:spPr>
      </p:pic>
      <p:sp>
        <p:nvSpPr>
          <p:cNvPr id="4" name="Title 3"/>
          <p:cNvSpPr>
            <a:spLocks noGrp="1"/>
          </p:cNvSpPr>
          <p:nvPr>
            <p:ph type="ctrTitle"/>
          </p:nvPr>
        </p:nvSpPr>
        <p:spPr>
          <a:xfrm>
            <a:off x="0" y="387255"/>
            <a:ext cx="7734300" cy="591124"/>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pPr algn="ctr">
              <a:lnSpc>
                <a:spcPct val="100000"/>
              </a:lnSpc>
              <a:spcBef>
                <a:spcPts val="0"/>
              </a:spcBef>
              <a:spcAft>
                <a:spcPts val="0"/>
              </a:spcAft>
            </a:pPr>
            <a:r>
              <a:rPr lang="en-IN" altLang="en-US" sz="4000" dirty="0">
                <a:solidFill>
                  <a:schemeClr val="tx1"/>
                </a:solidFill>
                <a:latin typeface="Times New Roman" panose="02020603050405020304" pitchFamily="18" charset="0"/>
                <a:cs typeface="Times New Roman" panose="02020603050405020304" pitchFamily="18" charset="0"/>
              </a:rPr>
              <a:t>           Results</a:t>
            </a:r>
          </a:p>
        </p:txBody>
      </p:sp>
      <p:sp>
        <p:nvSpPr>
          <p:cNvPr id="3" name="TextBox 2">
            <a:extLst>
              <a:ext uri="{FF2B5EF4-FFF2-40B4-BE49-F238E27FC236}">
                <a16:creationId xmlns:a16="http://schemas.microsoft.com/office/drawing/2014/main" id="{A38E09BC-50F7-2151-BCD8-368EDD4FE3AB}"/>
              </a:ext>
            </a:extLst>
          </p:cNvPr>
          <p:cNvSpPr txBox="1"/>
          <p:nvPr/>
        </p:nvSpPr>
        <p:spPr>
          <a:xfrm>
            <a:off x="1725963" y="1506051"/>
            <a:ext cx="5255342" cy="4585871"/>
          </a:xfrm>
          <a:prstGeom prst="rect">
            <a:avLst/>
          </a:prstGeom>
          <a:noFill/>
        </p:spPr>
        <p:txBody>
          <a:bodyPr wrap="square">
            <a:spAutoFit/>
          </a:bodyPr>
          <a:lstStyle/>
          <a:p>
            <a:pPr algn="just">
              <a:buNone/>
            </a:pPr>
            <a:r>
              <a:rPr lang="en-US" b="1" dirty="0">
                <a:latin typeface="Times New Roman" panose="02020603050405020304" pitchFamily="18" charset="0"/>
                <a:cs typeface="Times New Roman" panose="02020603050405020304" pitchFamily="18" charset="0"/>
              </a:rPr>
              <a:t>Results</a:t>
            </a:r>
          </a:p>
          <a:p>
            <a:pPr algn="just">
              <a:buNone/>
            </a:pPr>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Model Accuracy: </a:t>
            </a:r>
            <a:r>
              <a:rPr lang="en-US" altLang="en-US" b="1" dirty="0">
                <a:latin typeface="Times New Roman" panose="02020603050405020304" pitchFamily="18" charset="0"/>
                <a:cs typeface="Times New Roman" panose="02020603050405020304" pitchFamily="18" charset="0"/>
              </a:rPr>
              <a:t>~89.8% </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Successfully classified:</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Fresh Apple / Rotten Apple</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Fresh Banana / Rotten Banana</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Fresh Orange / Rotten Orange</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Fresh Grape/ Rotten Grape </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Fresh Mango /Rotten Mango </a:t>
            </a:r>
          </a:p>
          <a:p>
            <a:pPr marL="742950" lvl="1"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lvl="1" algn="just"/>
            <a:endParaRPr lang="en-US" dirty="0">
              <a:latin typeface="Times New Roman" panose="02020603050405020304" pitchFamily="18" charset="0"/>
              <a:cs typeface="Times New Roman" panose="02020603050405020304" pitchFamily="18" charset="0"/>
            </a:endParaRPr>
          </a:p>
          <a:p>
            <a:pPr algn="just">
              <a:buNone/>
            </a:pPr>
            <a:r>
              <a:rPr lang="en-US" b="1" dirty="0">
                <a:latin typeface="Times New Roman" panose="02020603050405020304" pitchFamily="18" charset="0"/>
                <a:cs typeface="Times New Roman" panose="02020603050405020304" pitchFamily="18" charset="0"/>
              </a:rPr>
              <a:t>Performance Metrics</a:t>
            </a:r>
          </a:p>
          <a:p>
            <a:pPr algn="just">
              <a:buNone/>
            </a:pPr>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Precision: 90.15%</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Recall: 89.77%</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F1 Score: 89.67%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3A823-ABC0-6553-BE0B-BF6D6C9D1E4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5C21146-B6AD-6399-16D7-FB7F51DC0A07}"/>
              </a:ext>
            </a:extLst>
          </p:cNvPr>
          <p:cNvPicPr>
            <a:picLocks noChangeAspect="1"/>
          </p:cNvPicPr>
          <p:nvPr/>
        </p:nvPicPr>
        <p:blipFill>
          <a:blip r:embed="rId2" cstate="print"/>
          <a:stretch>
            <a:fillRect/>
          </a:stretch>
        </p:blipFill>
        <p:spPr>
          <a:xfrm>
            <a:off x="635" y="0"/>
            <a:ext cx="9143365" cy="6857365"/>
          </a:xfrm>
          <a:prstGeom prst="rect">
            <a:avLst/>
          </a:prstGeom>
          <a:solidFill>
            <a:srgbClr val="7030A0">
              <a:alpha val="23000"/>
            </a:srgbClr>
          </a:solidFill>
        </p:spPr>
      </p:pic>
      <p:sp>
        <p:nvSpPr>
          <p:cNvPr id="4" name="Title 3">
            <a:extLst>
              <a:ext uri="{FF2B5EF4-FFF2-40B4-BE49-F238E27FC236}">
                <a16:creationId xmlns:a16="http://schemas.microsoft.com/office/drawing/2014/main" id="{2884EF07-6B54-ED3A-A974-863AD3C212CF}"/>
              </a:ext>
            </a:extLst>
          </p:cNvPr>
          <p:cNvSpPr>
            <a:spLocks noGrp="1"/>
          </p:cNvSpPr>
          <p:nvPr>
            <p:ph type="ctrTitle"/>
          </p:nvPr>
        </p:nvSpPr>
        <p:spPr>
          <a:xfrm>
            <a:off x="74645" y="383922"/>
            <a:ext cx="7734300" cy="597789"/>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pPr algn="ctr">
              <a:lnSpc>
                <a:spcPct val="100000"/>
              </a:lnSpc>
              <a:spcBef>
                <a:spcPts val="0"/>
              </a:spcBef>
              <a:spcAft>
                <a:spcPts val="0"/>
              </a:spcAft>
            </a:pPr>
            <a:r>
              <a:rPr lang="en-IN" altLang="en-US" sz="3600" dirty="0">
                <a:solidFill>
                  <a:schemeClr val="tx1"/>
                </a:solidFill>
                <a:latin typeface="Times New Roman" panose="02020603050405020304" pitchFamily="18" charset="0"/>
                <a:cs typeface="Times New Roman" panose="02020603050405020304" pitchFamily="18" charset="0"/>
              </a:rPr>
              <a:t>           Result - Confusion Matrix:  </a:t>
            </a:r>
          </a:p>
        </p:txBody>
      </p:sp>
      <p:sp>
        <p:nvSpPr>
          <p:cNvPr id="2" name="TextBox 1">
            <a:extLst>
              <a:ext uri="{FF2B5EF4-FFF2-40B4-BE49-F238E27FC236}">
                <a16:creationId xmlns:a16="http://schemas.microsoft.com/office/drawing/2014/main" id="{0020698C-AD39-0B9F-8788-FA72BE67C2C8}"/>
              </a:ext>
            </a:extLst>
          </p:cNvPr>
          <p:cNvSpPr txBox="1"/>
          <p:nvPr/>
        </p:nvSpPr>
        <p:spPr>
          <a:xfrm>
            <a:off x="358240" y="5185007"/>
            <a:ext cx="8427520" cy="1289071"/>
          </a:xfrm>
          <a:prstGeom prst="rect">
            <a:avLst/>
          </a:prstGeom>
          <a:noFill/>
        </p:spPr>
        <p:txBody>
          <a:bodyPr wrap="square" rtlCol="0">
            <a:spAutoFit/>
          </a:bodyPr>
          <a:lstStyle/>
          <a:p>
            <a:pPr lvl="0"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The confusion matrix shows very high accuracy, with most predictions correctly classified. The model reliably distinguishes between fresh and rotten fruits across all categories.</a:t>
            </a:r>
          </a:p>
        </p:txBody>
      </p:sp>
      <p:sp>
        <p:nvSpPr>
          <p:cNvPr id="5" name="AutoShape 3">
            <a:extLst>
              <a:ext uri="{FF2B5EF4-FFF2-40B4-BE49-F238E27FC236}">
                <a16:creationId xmlns:a16="http://schemas.microsoft.com/office/drawing/2014/main" id="{A636136C-6438-498E-5915-5014407F42AC}"/>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82491076-DDA3-A0C6-2BC9-984456F7A5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9388" y="1234174"/>
            <a:ext cx="4805224" cy="3747079"/>
          </a:xfrm>
          <a:prstGeom prst="rect">
            <a:avLst/>
          </a:prstGeom>
        </p:spPr>
      </p:pic>
    </p:spTree>
    <p:extLst>
      <p:ext uri="{BB962C8B-B14F-4D97-AF65-F5344CB8AC3E}">
        <p14:creationId xmlns:p14="http://schemas.microsoft.com/office/powerpoint/2010/main" val="2635817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43412-B858-A471-C0F7-C7727C1B47C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DF5D63E-EE1B-CDC4-B5AE-AE78B9DE77EA}"/>
              </a:ext>
            </a:extLst>
          </p:cNvPr>
          <p:cNvPicPr>
            <a:picLocks noChangeAspect="1"/>
          </p:cNvPicPr>
          <p:nvPr/>
        </p:nvPicPr>
        <p:blipFill>
          <a:blip r:embed="rId2" cstate="print"/>
          <a:stretch>
            <a:fillRect/>
          </a:stretch>
        </p:blipFill>
        <p:spPr>
          <a:xfrm>
            <a:off x="635" y="0"/>
            <a:ext cx="9143365" cy="6857365"/>
          </a:xfrm>
          <a:prstGeom prst="rect">
            <a:avLst/>
          </a:prstGeom>
          <a:solidFill>
            <a:srgbClr val="7030A0">
              <a:alpha val="23000"/>
            </a:srgbClr>
          </a:solidFill>
        </p:spPr>
      </p:pic>
      <p:sp>
        <p:nvSpPr>
          <p:cNvPr id="4" name="Title 3">
            <a:extLst>
              <a:ext uri="{FF2B5EF4-FFF2-40B4-BE49-F238E27FC236}">
                <a16:creationId xmlns:a16="http://schemas.microsoft.com/office/drawing/2014/main" id="{CC32A992-B33F-5B9E-0743-668F2D01F617}"/>
              </a:ext>
            </a:extLst>
          </p:cNvPr>
          <p:cNvSpPr>
            <a:spLocks noGrp="1"/>
          </p:cNvSpPr>
          <p:nvPr>
            <p:ph type="ctrTitle"/>
          </p:nvPr>
        </p:nvSpPr>
        <p:spPr>
          <a:xfrm>
            <a:off x="704849" y="469774"/>
            <a:ext cx="7734300" cy="426085"/>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r>
              <a:rPr lang="en-IN" altLang="en-US" sz="2500" dirty="0">
                <a:solidFill>
                  <a:schemeClr val="tx1"/>
                </a:solidFill>
                <a:latin typeface="Times New Roman" panose="02020603050405020304" pitchFamily="18" charset="0"/>
                <a:cs typeface="Times New Roman" panose="02020603050405020304" pitchFamily="18" charset="0"/>
              </a:rPr>
              <a:t>Result - Classification Report Metrics:</a:t>
            </a:r>
          </a:p>
        </p:txBody>
      </p:sp>
      <p:pic>
        <p:nvPicPr>
          <p:cNvPr id="3" name="Picture 2">
            <a:extLst>
              <a:ext uri="{FF2B5EF4-FFF2-40B4-BE49-F238E27FC236}">
                <a16:creationId xmlns:a16="http://schemas.microsoft.com/office/drawing/2014/main" id="{9E26DABC-C43E-5D4D-771A-77AAF042EF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7309" y="1256204"/>
            <a:ext cx="4969381" cy="3766745"/>
          </a:xfrm>
          <a:prstGeom prst="rect">
            <a:avLst/>
          </a:prstGeom>
        </p:spPr>
      </p:pic>
      <p:sp>
        <p:nvSpPr>
          <p:cNvPr id="5" name="TextBox 4">
            <a:extLst>
              <a:ext uri="{FF2B5EF4-FFF2-40B4-BE49-F238E27FC236}">
                <a16:creationId xmlns:a16="http://schemas.microsoft.com/office/drawing/2014/main" id="{EEEA6F61-D824-E28B-20BF-9371422FB3DA}"/>
              </a:ext>
            </a:extLst>
          </p:cNvPr>
          <p:cNvSpPr txBox="1"/>
          <p:nvPr/>
        </p:nvSpPr>
        <p:spPr>
          <a:xfrm>
            <a:off x="361917" y="5204439"/>
            <a:ext cx="8455511" cy="1289071"/>
          </a:xfrm>
          <a:prstGeom prst="rect">
            <a:avLst/>
          </a:prstGeom>
          <a:noFill/>
        </p:spPr>
        <p:txBody>
          <a:bodyPr wrap="square" rtlCol="0">
            <a:spAutoFit/>
          </a:bodyPr>
          <a:lstStyle/>
          <a:p>
            <a:pPr lvl="0"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The classification report shows that the model performs consistently well across all ten fruit categories. This indicates highly accurate, balanced, and reliable classification of fruit freshness.</a:t>
            </a:r>
          </a:p>
        </p:txBody>
      </p:sp>
    </p:spTree>
    <p:extLst>
      <p:ext uri="{BB962C8B-B14F-4D97-AF65-F5344CB8AC3E}">
        <p14:creationId xmlns:p14="http://schemas.microsoft.com/office/powerpoint/2010/main" val="825672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12015-8A04-AAFA-FFB9-D0D64ACAD30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698B935-1F7A-07C9-D44D-7577EA2DF765}"/>
              </a:ext>
            </a:extLst>
          </p:cNvPr>
          <p:cNvPicPr>
            <a:picLocks noChangeAspect="1"/>
          </p:cNvPicPr>
          <p:nvPr/>
        </p:nvPicPr>
        <p:blipFill>
          <a:blip r:embed="rId2" cstate="print"/>
          <a:stretch>
            <a:fillRect/>
          </a:stretch>
        </p:blipFill>
        <p:spPr>
          <a:xfrm>
            <a:off x="635" y="0"/>
            <a:ext cx="9143365" cy="6857365"/>
          </a:xfrm>
          <a:prstGeom prst="rect">
            <a:avLst/>
          </a:prstGeom>
          <a:solidFill>
            <a:srgbClr val="7030A0">
              <a:alpha val="23000"/>
            </a:srgbClr>
          </a:solidFill>
        </p:spPr>
      </p:pic>
      <p:sp>
        <p:nvSpPr>
          <p:cNvPr id="4" name="Title 3">
            <a:extLst>
              <a:ext uri="{FF2B5EF4-FFF2-40B4-BE49-F238E27FC236}">
                <a16:creationId xmlns:a16="http://schemas.microsoft.com/office/drawing/2014/main" id="{52F7DCBB-8AA3-9312-099B-1E4A1C35AB4E}"/>
              </a:ext>
            </a:extLst>
          </p:cNvPr>
          <p:cNvSpPr>
            <a:spLocks noGrp="1"/>
          </p:cNvSpPr>
          <p:nvPr>
            <p:ph type="ctrTitle"/>
          </p:nvPr>
        </p:nvSpPr>
        <p:spPr>
          <a:xfrm>
            <a:off x="65315" y="345856"/>
            <a:ext cx="7734300" cy="643050"/>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pPr algn="ctr">
              <a:lnSpc>
                <a:spcPct val="100000"/>
              </a:lnSpc>
              <a:spcBef>
                <a:spcPts val="0"/>
              </a:spcBef>
              <a:spcAft>
                <a:spcPts val="0"/>
              </a:spcAft>
            </a:pPr>
            <a:r>
              <a:rPr lang="en-IN" altLang="en-US" sz="4000" dirty="0">
                <a:solidFill>
                  <a:schemeClr val="tx1"/>
                </a:solidFill>
                <a:latin typeface="Times New Roman" panose="02020603050405020304" pitchFamily="18" charset="0"/>
                <a:cs typeface="Times New Roman" panose="02020603050405020304" pitchFamily="18" charset="0"/>
              </a:rPr>
              <a:t>           Result- Login Page:  </a:t>
            </a:r>
          </a:p>
        </p:txBody>
      </p:sp>
      <p:pic>
        <p:nvPicPr>
          <p:cNvPr id="7" name="Picture 6">
            <a:extLst>
              <a:ext uri="{FF2B5EF4-FFF2-40B4-BE49-F238E27FC236}">
                <a16:creationId xmlns:a16="http://schemas.microsoft.com/office/drawing/2014/main" id="{AE6698F1-A79E-380B-2721-403AB68D7A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911" y="1446742"/>
            <a:ext cx="7068177" cy="3886019"/>
          </a:xfrm>
          <a:prstGeom prst="rect">
            <a:avLst/>
          </a:prstGeom>
        </p:spPr>
      </p:pic>
      <p:sp>
        <p:nvSpPr>
          <p:cNvPr id="9" name="TextBox 8">
            <a:extLst>
              <a:ext uri="{FF2B5EF4-FFF2-40B4-BE49-F238E27FC236}">
                <a16:creationId xmlns:a16="http://schemas.microsoft.com/office/drawing/2014/main" id="{F05757CF-1829-57F7-4F6C-AAB9953CE00E}"/>
              </a:ext>
            </a:extLst>
          </p:cNvPr>
          <p:cNvSpPr txBox="1"/>
          <p:nvPr/>
        </p:nvSpPr>
        <p:spPr>
          <a:xfrm>
            <a:off x="1854338" y="5597475"/>
            <a:ext cx="6372808"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A user authentication interface for secure system access.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2662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7271A-15CF-EEF1-A644-534B1407404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9B20834-D011-8CEF-5A95-422966BD6342}"/>
              </a:ext>
            </a:extLst>
          </p:cNvPr>
          <p:cNvPicPr>
            <a:picLocks noChangeAspect="1"/>
          </p:cNvPicPr>
          <p:nvPr/>
        </p:nvPicPr>
        <p:blipFill>
          <a:blip r:embed="rId2" cstate="print"/>
          <a:stretch>
            <a:fillRect/>
          </a:stretch>
        </p:blipFill>
        <p:spPr>
          <a:xfrm>
            <a:off x="635" y="0"/>
            <a:ext cx="9143365" cy="6857365"/>
          </a:xfrm>
          <a:prstGeom prst="rect">
            <a:avLst/>
          </a:prstGeom>
          <a:solidFill>
            <a:srgbClr val="7030A0">
              <a:alpha val="23000"/>
            </a:srgbClr>
          </a:solidFill>
        </p:spPr>
      </p:pic>
      <p:sp>
        <p:nvSpPr>
          <p:cNvPr id="4" name="Title 3">
            <a:extLst>
              <a:ext uri="{FF2B5EF4-FFF2-40B4-BE49-F238E27FC236}">
                <a16:creationId xmlns:a16="http://schemas.microsoft.com/office/drawing/2014/main" id="{2631091A-093F-CDAA-5CE4-E851A11AA19F}"/>
              </a:ext>
            </a:extLst>
          </p:cNvPr>
          <p:cNvSpPr>
            <a:spLocks noGrp="1"/>
          </p:cNvSpPr>
          <p:nvPr>
            <p:ph type="ctrTitle"/>
          </p:nvPr>
        </p:nvSpPr>
        <p:spPr>
          <a:xfrm>
            <a:off x="279918" y="426606"/>
            <a:ext cx="7734300" cy="512421"/>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pPr algn="ctr">
              <a:lnSpc>
                <a:spcPct val="100000"/>
              </a:lnSpc>
              <a:spcBef>
                <a:spcPts val="0"/>
              </a:spcBef>
              <a:spcAft>
                <a:spcPts val="0"/>
              </a:spcAft>
            </a:pPr>
            <a:r>
              <a:rPr lang="en-IN" altLang="en-US" sz="2200" dirty="0">
                <a:solidFill>
                  <a:schemeClr val="tx1"/>
                </a:solidFill>
              </a:rPr>
              <a:t>           </a:t>
            </a:r>
            <a:r>
              <a:rPr lang="en-IN" altLang="en-US" sz="2800" dirty="0">
                <a:solidFill>
                  <a:schemeClr val="tx1"/>
                </a:solidFill>
                <a:latin typeface="Times New Roman" panose="02020603050405020304" pitchFamily="18" charset="0"/>
                <a:cs typeface="Times New Roman" panose="02020603050405020304" pitchFamily="18" charset="0"/>
              </a:rPr>
              <a:t>Result - Dashboard Upload Screen : </a:t>
            </a:r>
          </a:p>
        </p:txBody>
      </p:sp>
      <p:sp>
        <p:nvSpPr>
          <p:cNvPr id="9" name="TextBox 8">
            <a:extLst>
              <a:ext uri="{FF2B5EF4-FFF2-40B4-BE49-F238E27FC236}">
                <a16:creationId xmlns:a16="http://schemas.microsoft.com/office/drawing/2014/main" id="{3B2698AB-E26E-9533-BEAB-7F578BFEA7E6}"/>
              </a:ext>
            </a:extLst>
          </p:cNvPr>
          <p:cNvSpPr txBox="1"/>
          <p:nvPr/>
        </p:nvSpPr>
        <p:spPr>
          <a:xfrm>
            <a:off x="1026367" y="5103514"/>
            <a:ext cx="6987851" cy="1200329"/>
          </a:xfrm>
          <a:prstGeom prst="rect">
            <a:avLst/>
          </a:prstGeom>
          <a:noFill/>
        </p:spPr>
        <p:txBody>
          <a:bodyPr wrap="square" rtlCol="0">
            <a:spAutoFit/>
          </a:bodyPr>
          <a:lstStyle/>
          <a:p>
            <a:pPr algn="ctr">
              <a:lnSpc>
                <a:spcPct val="150000"/>
              </a:lnSpc>
            </a:pPr>
            <a:r>
              <a:rPr lang="en-IN" dirty="0">
                <a:latin typeface="Times New Roman" panose="02020603050405020304" pitchFamily="18" charset="0"/>
                <a:cs typeface="Times New Roman" panose="02020603050405020304" pitchFamily="18" charset="0"/>
              </a:rPr>
              <a:t>A user-friendly upload interface that makes </a:t>
            </a: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fruit quality and expiry prediction simple, fast, and visually engaging. </a:t>
            </a:r>
          </a:p>
          <a:p>
            <a:pPr algn="ct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21C8871-BC09-6D9E-C8C5-76C41A2ABC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367" y="1425028"/>
            <a:ext cx="6987852" cy="3435486"/>
          </a:xfrm>
          <a:prstGeom prst="rect">
            <a:avLst/>
          </a:prstGeom>
        </p:spPr>
      </p:pic>
    </p:spTree>
    <p:extLst>
      <p:ext uri="{BB962C8B-B14F-4D97-AF65-F5344CB8AC3E}">
        <p14:creationId xmlns:p14="http://schemas.microsoft.com/office/powerpoint/2010/main" val="3264351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FD91E-7A95-DCC1-00B5-3DBC69FA27B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1F8746C-0642-CD7A-A7C4-DA0F4C970A6D}"/>
              </a:ext>
            </a:extLst>
          </p:cNvPr>
          <p:cNvPicPr>
            <a:picLocks noChangeAspect="1"/>
          </p:cNvPicPr>
          <p:nvPr/>
        </p:nvPicPr>
        <p:blipFill>
          <a:blip r:embed="rId2" cstate="print"/>
          <a:stretch>
            <a:fillRect/>
          </a:stretch>
        </p:blipFill>
        <p:spPr>
          <a:xfrm>
            <a:off x="635" y="0"/>
            <a:ext cx="9143365" cy="6857365"/>
          </a:xfrm>
          <a:prstGeom prst="rect">
            <a:avLst/>
          </a:prstGeom>
          <a:solidFill>
            <a:srgbClr val="7030A0">
              <a:alpha val="23000"/>
            </a:srgbClr>
          </a:solidFill>
        </p:spPr>
      </p:pic>
      <p:sp>
        <p:nvSpPr>
          <p:cNvPr id="4" name="Title 3">
            <a:extLst>
              <a:ext uri="{FF2B5EF4-FFF2-40B4-BE49-F238E27FC236}">
                <a16:creationId xmlns:a16="http://schemas.microsoft.com/office/drawing/2014/main" id="{8C9272E0-8C07-0C7A-7997-117416424865}"/>
              </a:ext>
            </a:extLst>
          </p:cNvPr>
          <p:cNvSpPr>
            <a:spLocks noGrp="1"/>
          </p:cNvSpPr>
          <p:nvPr>
            <p:ph type="ctrTitle"/>
          </p:nvPr>
        </p:nvSpPr>
        <p:spPr>
          <a:xfrm>
            <a:off x="233265" y="419788"/>
            <a:ext cx="7734300" cy="605727"/>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pPr algn="ctr">
              <a:lnSpc>
                <a:spcPct val="100000"/>
              </a:lnSpc>
              <a:spcBef>
                <a:spcPts val="0"/>
              </a:spcBef>
              <a:spcAft>
                <a:spcPts val="0"/>
              </a:spcAft>
            </a:pPr>
            <a:r>
              <a:rPr lang="en-IN" altLang="en-US" sz="2200" dirty="0">
                <a:solidFill>
                  <a:schemeClr val="tx1"/>
                </a:solidFill>
              </a:rPr>
              <a:t>         </a:t>
            </a:r>
            <a:r>
              <a:rPr lang="en-IN" altLang="en-US" sz="3600" dirty="0">
                <a:solidFill>
                  <a:schemeClr val="tx1"/>
                </a:solidFill>
                <a:latin typeface="Times New Roman" panose="02020603050405020304" pitchFamily="18" charset="0"/>
                <a:cs typeface="Times New Roman" panose="02020603050405020304" pitchFamily="18" charset="0"/>
              </a:rPr>
              <a:t>  Result - Analysis Results : </a:t>
            </a:r>
          </a:p>
        </p:txBody>
      </p:sp>
      <p:sp>
        <p:nvSpPr>
          <p:cNvPr id="9" name="TextBox 8">
            <a:extLst>
              <a:ext uri="{FF2B5EF4-FFF2-40B4-BE49-F238E27FC236}">
                <a16:creationId xmlns:a16="http://schemas.microsoft.com/office/drawing/2014/main" id="{3B007986-D094-D88F-B227-93398A6F370F}"/>
              </a:ext>
            </a:extLst>
          </p:cNvPr>
          <p:cNvSpPr txBox="1"/>
          <p:nvPr/>
        </p:nvSpPr>
        <p:spPr>
          <a:xfrm>
            <a:off x="1026367" y="5112518"/>
            <a:ext cx="7100596" cy="887066"/>
          </a:xfrm>
          <a:prstGeom prst="rect">
            <a:avLst/>
          </a:prstGeom>
          <a:noFill/>
        </p:spPr>
        <p:txBody>
          <a:bodyPr wrap="square" rtlCol="0">
            <a:spAutoFit/>
          </a:bodyPr>
          <a:lstStyle/>
          <a:p>
            <a:pPr algn="ctr">
              <a:lnSpc>
                <a:spcPct val="150000"/>
              </a:lnSpc>
            </a:pPr>
            <a:r>
              <a:rPr lang="en-IN" dirty="0">
                <a:latin typeface="Times New Roman" panose="02020603050405020304" pitchFamily="18" charset="0"/>
                <a:cs typeface="Times New Roman" panose="02020603050405020304" pitchFamily="18" charset="0"/>
              </a:rPr>
              <a:t>A smart results screen displaying freshness grades, confidence levels, and expiry days insights with clarity and precision. </a:t>
            </a:r>
          </a:p>
        </p:txBody>
      </p:sp>
      <p:pic>
        <p:nvPicPr>
          <p:cNvPr id="3" name="Picture 2">
            <a:extLst>
              <a:ext uri="{FF2B5EF4-FFF2-40B4-BE49-F238E27FC236}">
                <a16:creationId xmlns:a16="http://schemas.microsoft.com/office/drawing/2014/main" id="{E025A879-C35E-5E37-525A-B09D1BD02B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367" y="1445303"/>
            <a:ext cx="7100596" cy="3403940"/>
          </a:xfrm>
          <a:prstGeom prst="rect">
            <a:avLst/>
          </a:prstGeom>
        </p:spPr>
      </p:pic>
    </p:spTree>
    <p:extLst>
      <p:ext uri="{BB962C8B-B14F-4D97-AF65-F5344CB8AC3E}">
        <p14:creationId xmlns:p14="http://schemas.microsoft.com/office/powerpoint/2010/main" val="3985307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4FA5C-20EF-FCAB-C443-043B3819ED3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CBC484A-60FA-2818-0BC5-F20100E0C07F}"/>
              </a:ext>
            </a:extLst>
          </p:cNvPr>
          <p:cNvPicPr>
            <a:picLocks noChangeAspect="1"/>
          </p:cNvPicPr>
          <p:nvPr/>
        </p:nvPicPr>
        <p:blipFill>
          <a:blip r:embed="rId2" cstate="print"/>
          <a:stretch>
            <a:fillRect/>
          </a:stretch>
        </p:blipFill>
        <p:spPr>
          <a:xfrm>
            <a:off x="0" y="-108155"/>
            <a:ext cx="9143365" cy="6966155"/>
          </a:xfrm>
          <a:prstGeom prst="rect">
            <a:avLst/>
          </a:prstGeom>
          <a:solidFill>
            <a:srgbClr val="7030A0">
              <a:alpha val="23000"/>
            </a:srgbClr>
          </a:solidFill>
        </p:spPr>
      </p:pic>
      <p:sp>
        <p:nvSpPr>
          <p:cNvPr id="4" name="Title 3">
            <a:extLst>
              <a:ext uri="{FF2B5EF4-FFF2-40B4-BE49-F238E27FC236}">
                <a16:creationId xmlns:a16="http://schemas.microsoft.com/office/drawing/2014/main" id="{3030EFB2-9ACE-7E60-1203-F849445CE809}"/>
              </a:ext>
            </a:extLst>
          </p:cNvPr>
          <p:cNvSpPr>
            <a:spLocks noGrp="1"/>
          </p:cNvSpPr>
          <p:nvPr>
            <p:ph type="ctrTitle"/>
          </p:nvPr>
        </p:nvSpPr>
        <p:spPr>
          <a:xfrm>
            <a:off x="232989" y="431013"/>
            <a:ext cx="7734300" cy="601003"/>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r>
              <a:rPr lang="en-IN" altLang="en-US" sz="4000" dirty="0">
                <a:solidFill>
                  <a:schemeClr val="tx1"/>
                </a:solidFill>
                <a:latin typeface="Times New Roman" panose="02020603050405020304" pitchFamily="18" charset="0"/>
                <a:cs typeface="Times New Roman" panose="02020603050405020304" pitchFamily="18" charset="0"/>
              </a:rPr>
              <a:t>Future Scope</a:t>
            </a:r>
          </a:p>
        </p:txBody>
      </p:sp>
      <p:sp>
        <p:nvSpPr>
          <p:cNvPr id="2050" name="Rectangle 2">
            <a:extLst>
              <a:ext uri="{FF2B5EF4-FFF2-40B4-BE49-F238E27FC236}">
                <a16:creationId xmlns:a16="http://schemas.microsoft.com/office/drawing/2014/main" id="{4CAC974B-B7FB-7350-ABBC-DBE05726B0E4}"/>
              </a:ext>
            </a:extLst>
          </p:cNvPr>
          <p:cNvSpPr>
            <a:spLocks noChangeArrowheads="1"/>
          </p:cNvSpPr>
          <p:nvPr/>
        </p:nvSpPr>
        <p:spPr bwMode="auto">
          <a:xfrm>
            <a:off x="0" y="1163782"/>
            <a:ext cx="9201686"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tabLst/>
            </a:pPr>
            <a:endParaRPr lang="en-US" sz="1200" dirty="0">
              <a:latin typeface="Arial" pitchFamily="34" charset="0"/>
              <a:ea typeface="Times New Roman" pitchFamily="18" charset="0"/>
              <a:cs typeface="Aptos" charset="0"/>
            </a:endParaRPr>
          </a:p>
          <a:p>
            <a:pPr marL="0" marR="0" lvl="0" indent="0" algn="just" defTabSz="914400" rtl="0" eaLnBrk="1" fontAlgn="base" latinLnBrk="0" hangingPunct="1">
              <a:lnSpc>
                <a:spcPct val="100000"/>
              </a:lnSpc>
              <a:spcBef>
                <a:spcPct val="0"/>
              </a:spcBef>
              <a:spcAft>
                <a:spcPct val="0"/>
              </a:spcAft>
              <a:buClrTx/>
              <a:buSzTx/>
              <a:buFontTx/>
              <a:buChar char="•"/>
              <a:tabLst/>
            </a:pPr>
            <a:endParaRPr kumimoji="0" lang="en-US" sz="1200" b="0" i="0" u="none" strike="noStrike" cap="none" normalizeH="0" baseline="0" dirty="0">
              <a:ln>
                <a:noFill/>
              </a:ln>
              <a:solidFill>
                <a:schemeClr val="tx1"/>
              </a:solidFill>
              <a:effectLst/>
              <a:latin typeface="Arial" pitchFamily="34" charset="0"/>
              <a:ea typeface="Times New Roman" pitchFamily="18" charset="0"/>
              <a:cs typeface="Aptos" charset="0"/>
            </a:endParaRPr>
          </a:p>
        </p:txBody>
      </p:sp>
      <p:sp>
        <p:nvSpPr>
          <p:cNvPr id="5" name="TextBox 4">
            <a:extLst>
              <a:ext uri="{FF2B5EF4-FFF2-40B4-BE49-F238E27FC236}">
                <a16:creationId xmlns:a16="http://schemas.microsoft.com/office/drawing/2014/main" id="{8C7C65A4-F311-33C6-0D83-028DDC2B250C}"/>
              </a:ext>
            </a:extLst>
          </p:cNvPr>
          <p:cNvSpPr txBox="1"/>
          <p:nvPr/>
        </p:nvSpPr>
        <p:spPr>
          <a:xfrm>
            <a:off x="1012723" y="2050144"/>
            <a:ext cx="5785030" cy="1476900"/>
          </a:xfrm>
          <a:prstGeom prst="rect">
            <a:avLst/>
          </a:prstGeom>
          <a:noFill/>
        </p:spPr>
        <p:txBody>
          <a:bodyPr wrap="square" rtlCol="0">
            <a:spAutoFit/>
          </a:bodyPr>
          <a:lstStyle/>
          <a:p>
            <a:endParaRPr lang="en-IN" b="1" dirty="0"/>
          </a:p>
        </p:txBody>
      </p:sp>
      <p:sp>
        <p:nvSpPr>
          <p:cNvPr id="12" name="TextBox 11">
            <a:extLst>
              <a:ext uri="{FF2B5EF4-FFF2-40B4-BE49-F238E27FC236}">
                <a16:creationId xmlns:a16="http://schemas.microsoft.com/office/drawing/2014/main" id="{4E58B890-BE98-4C36-5588-23496B58013A}"/>
              </a:ext>
            </a:extLst>
          </p:cNvPr>
          <p:cNvSpPr txBox="1"/>
          <p:nvPr/>
        </p:nvSpPr>
        <p:spPr>
          <a:xfrm>
            <a:off x="1099064" y="1595886"/>
            <a:ext cx="6945236" cy="3293209"/>
          </a:xfrm>
          <a:prstGeom prst="rect">
            <a:avLst/>
          </a:prstGeom>
          <a:noFill/>
        </p:spPr>
        <p:txBody>
          <a:bodyPr wrap="square">
            <a:spAutoFit/>
          </a:bodyPr>
          <a:lstStyle/>
          <a:p>
            <a:endParaRPr lang="en-US" sz="2000" b="1" dirty="0">
              <a:latin typeface="Times New Roman" panose="02020603050405020304" pitchFamily="18" charset="0"/>
              <a:cs typeface="Times New Roman" panose="02020603050405020304" pitchFamily="18" charset="0"/>
            </a:endParaRPr>
          </a:p>
          <a:p>
            <a:pPr lvl="0"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Expand the system to detect more fruits and vegetables.</a:t>
            </a:r>
          </a:p>
          <a:p>
            <a:pPr lvl="0"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Develop a mobile application for easy access.</a:t>
            </a:r>
          </a:p>
          <a:p>
            <a:pPr lvl="0"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Improve accuracy under different lighting and environmental conditions.</a:t>
            </a:r>
          </a:p>
          <a:p>
            <a:pPr lvl="0"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Use advanced deep learning models to improve performance.</a:t>
            </a:r>
          </a:p>
          <a:p>
            <a:endParaRPr lang="en-US" sz="2000" b="1"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5749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stretch>
            <a:fillRect/>
          </a:stretch>
        </p:blipFill>
        <p:spPr>
          <a:xfrm>
            <a:off x="635" y="-21523"/>
            <a:ext cx="9143365" cy="6870192"/>
          </a:xfrm>
          <a:prstGeom prst="rect">
            <a:avLst/>
          </a:prstGeom>
          <a:solidFill>
            <a:srgbClr val="7030A0">
              <a:alpha val="23000"/>
            </a:srgbClr>
          </a:solidFill>
        </p:spPr>
      </p:pic>
      <p:sp>
        <p:nvSpPr>
          <p:cNvPr id="4" name="Title 3"/>
          <p:cNvSpPr>
            <a:spLocks noGrp="1"/>
          </p:cNvSpPr>
          <p:nvPr>
            <p:ph type="ctrTitle"/>
          </p:nvPr>
        </p:nvSpPr>
        <p:spPr>
          <a:xfrm>
            <a:off x="316965" y="308343"/>
            <a:ext cx="7734300" cy="614465"/>
          </a:xfrm>
          <a:custGeom>
            <a:avLst/>
            <a:gdLst>
              <a:gd name="connsiteX0" fmla="*/ 0 w 11513"/>
              <a:gd name="connsiteY0" fmla="*/ 0 h 671"/>
              <a:gd name="connsiteX1" fmla="*/ 11207 w 11513"/>
              <a:gd name="connsiteY1" fmla="*/ 29 h 671"/>
              <a:gd name="connsiteX2" fmla="*/ 11513 w 11513"/>
              <a:gd name="connsiteY2" fmla="*/ 662 h 671"/>
              <a:gd name="connsiteX3" fmla="*/ 0 w 11513"/>
              <a:gd name="connsiteY3" fmla="*/ 671 h 671"/>
              <a:gd name="connsiteX4" fmla="*/ 0 w 11513"/>
              <a:gd name="connsiteY4" fmla="*/ 0 h 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3" h="671">
                <a:moveTo>
                  <a:pt x="0" y="0"/>
                </a:moveTo>
                <a:lnTo>
                  <a:pt x="11207" y="29"/>
                </a:lnTo>
                <a:lnTo>
                  <a:pt x="11513" y="662"/>
                </a:lnTo>
                <a:lnTo>
                  <a:pt x="0" y="671"/>
                </a:lnTo>
                <a:lnTo>
                  <a:pt x="0" y="0"/>
                </a:lnTo>
                <a:close/>
              </a:path>
            </a:pathLst>
          </a:custGeom>
          <a:noFill/>
        </p:spPr>
        <p:txBody>
          <a:bodyPr>
            <a:noAutofit/>
          </a:bodyPr>
          <a:lstStyle/>
          <a:p>
            <a:r>
              <a:rPr lang="en-IN" altLang="en-US" sz="4000" dirty="0">
                <a:solidFill>
                  <a:schemeClr val="tx1"/>
                </a:solidFill>
                <a:latin typeface="Times New Roman" panose="02020603050405020304" pitchFamily="18" charset="0"/>
                <a:cs typeface="Times New Roman" panose="02020603050405020304" pitchFamily="18" charset="0"/>
              </a:rPr>
              <a:t>  Conclusion</a:t>
            </a:r>
          </a:p>
        </p:txBody>
      </p:sp>
      <p:sp>
        <p:nvSpPr>
          <p:cNvPr id="2050" name="Rectangle 2"/>
          <p:cNvSpPr>
            <a:spLocks noChangeArrowheads="1"/>
          </p:cNvSpPr>
          <p:nvPr/>
        </p:nvSpPr>
        <p:spPr bwMode="auto">
          <a:xfrm>
            <a:off x="0" y="1163782"/>
            <a:ext cx="9201686"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tabLst/>
            </a:pPr>
            <a:endParaRPr lang="en-US" sz="1200" dirty="0">
              <a:latin typeface="Arial" pitchFamily="34" charset="0"/>
              <a:ea typeface="Times New Roman" pitchFamily="18" charset="0"/>
              <a:cs typeface="Aptos" charset="0"/>
            </a:endParaRPr>
          </a:p>
          <a:p>
            <a:pPr marL="0" marR="0" lvl="0" indent="0" algn="just" defTabSz="914400" rtl="0" eaLnBrk="1" fontAlgn="base" latinLnBrk="0" hangingPunct="1">
              <a:lnSpc>
                <a:spcPct val="100000"/>
              </a:lnSpc>
              <a:spcBef>
                <a:spcPct val="0"/>
              </a:spcBef>
              <a:spcAft>
                <a:spcPct val="0"/>
              </a:spcAft>
              <a:buClrTx/>
              <a:buSzTx/>
              <a:buFontTx/>
              <a:buChar char="•"/>
              <a:tabLst/>
            </a:pPr>
            <a:endParaRPr kumimoji="0" lang="en-US" sz="1200" b="0" i="0" u="none" strike="noStrike" cap="none" normalizeH="0" baseline="0" dirty="0">
              <a:ln>
                <a:noFill/>
              </a:ln>
              <a:solidFill>
                <a:schemeClr val="tx1"/>
              </a:solidFill>
              <a:effectLst/>
              <a:latin typeface="Arial" pitchFamily="34" charset="0"/>
              <a:ea typeface="Times New Roman" pitchFamily="18" charset="0"/>
              <a:cs typeface="Aptos" charset="0"/>
            </a:endParaRPr>
          </a:p>
        </p:txBody>
      </p:sp>
      <p:sp>
        <p:nvSpPr>
          <p:cNvPr id="5" name="TextBox 4">
            <a:extLst>
              <a:ext uri="{FF2B5EF4-FFF2-40B4-BE49-F238E27FC236}">
                <a16:creationId xmlns:a16="http://schemas.microsoft.com/office/drawing/2014/main" id="{1550B7AD-6BEB-F8E0-927F-17D08E64E16B}"/>
              </a:ext>
            </a:extLst>
          </p:cNvPr>
          <p:cNvSpPr txBox="1"/>
          <p:nvPr/>
        </p:nvSpPr>
        <p:spPr>
          <a:xfrm>
            <a:off x="1012723" y="2050144"/>
            <a:ext cx="5785030" cy="1476900"/>
          </a:xfrm>
          <a:prstGeom prst="rect">
            <a:avLst/>
          </a:prstGeom>
          <a:noFill/>
        </p:spPr>
        <p:txBody>
          <a:bodyPr wrap="square" rtlCol="0">
            <a:spAutoFit/>
          </a:bodyPr>
          <a:lstStyle/>
          <a:p>
            <a:endParaRPr lang="en-IN" b="1" dirty="0"/>
          </a:p>
        </p:txBody>
      </p:sp>
      <p:sp>
        <p:nvSpPr>
          <p:cNvPr id="12" name="TextBox 11">
            <a:extLst>
              <a:ext uri="{FF2B5EF4-FFF2-40B4-BE49-F238E27FC236}">
                <a16:creationId xmlns:a16="http://schemas.microsoft.com/office/drawing/2014/main" id="{48351683-2A0E-CBAB-CEC4-6CC9B14571E9}"/>
              </a:ext>
            </a:extLst>
          </p:cNvPr>
          <p:cNvSpPr txBox="1"/>
          <p:nvPr/>
        </p:nvSpPr>
        <p:spPr>
          <a:xfrm>
            <a:off x="1012723" y="1513159"/>
            <a:ext cx="7118554" cy="4197559"/>
          </a:xfrm>
          <a:prstGeom prst="rect">
            <a:avLst/>
          </a:prstGeom>
          <a:noFill/>
        </p:spPr>
        <p:txBody>
          <a:bodyPr wrap="square">
            <a:spAutoFit/>
          </a:bodyPr>
          <a:lstStyle/>
          <a:p>
            <a:pPr algn="just">
              <a:lnSpc>
                <a:spcPct val="150000"/>
              </a:lnSpc>
              <a:buNone/>
            </a:pPr>
            <a:endParaRPr lang="en-US" b="1" dirty="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The </a:t>
            </a:r>
            <a:r>
              <a:rPr lang="en-US" altLang="en-US" b="1" dirty="0">
                <a:latin typeface="Times New Roman" panose="02020603050405020304" pitchFamily="18" charset="0"/>
                <a:cs typeface="Times New Roman" panose="02020603050405020304" pitchFamily="18" charset="0"/>
              </a:rPr>
              <a:t>AI-based Fruit Freshness and Expiry Prediction Using Images System</a:t>
            </a:r>
            <a:r>
              <a:rPr lang="en-US" altLang="en-US" dirty="0">
                <a:latin typeface="Times New Roman" panose="02020603050405020304" pitchFamily="18" charset="0"/>
                <a:cs typeface="Times New Roman" panose="02020603050405020304" pitchFamily="18" charset="0"/>
              </a:rPr>
              <a:t> uses deep learning and computer vision to detect whether fruits are fresh or rotten and estimate their remaining expiry days from images. Using a CNN model, it achieves about </a:t>
            </a:r>
            <a:r>
              <a:rPr lang="en-US" altLang="en-US" b="1" dirty="0">
                <a:latin typeface="Times New Roman" panose="02020603050405020304" pitchFamily="18" charset="0"/>
                <a:cs typeface="Times New Roman" panose="02020603050405020304" pitchFamily="18" charset="0"/>
              </a:rPr>
              <a:t>~89.8% accuracy</a:t>
            </a:r>
            <a:r>
              <a:rPr lang="en-US" altLang="en-US" dirty="0">
                <a:latin typeface="Times New Roman" panose="02020603050405020304" pitchFamily="18" charset="0"/>
                <a:cs typeface="Times New Roman" panose="02020603050405020304" pitchFamily="18" charset="0"/>
              </a:rPr>
              <a:t>, reduces manual inspection, is cost-effective, and helps improve quality control while reducing food waste.</a:t>
            </a:r>
          </a:p>
          <a:p>
            <a:pPr lvl="0" algn="just"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algn="just">
              <a:lnSpc>
                <a:spcPct val="150000"/>
              </a:lnSpc>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1258</TotalTime>
  <Words>1046</Words>
  <Application>Microsoft Office PowerPoint</Application>
  <PresentationFormat>On-screen Show (4:3)</PresentationFormat>
  <Paragraphs>118</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AI-Based Fruit Freshness and Expiry Prediction Using Images</vt:lpstr>
      <vt:lpstr>           Introduction </vt:lpstr>
      <vt:lpstr>Literature Review</vt:lpstr>
      <vt:lpstr>Problem Identification</vt:lpstr>
      <vt:lpstr>                  Objectives</vt:lpstr>
      <vt:lpstr>Scope</vt:lpstr>
      <vt:lpstr>Block Diagram</vt:lpstr>
      <vt:lpstr>Methodology  &amp;  Technologies</vt:lpstr>
      <vt:lpstr>Methodology  &amp;  Technologies</vt:lpstr>
      <vt:lpstr>Implementation Details</vt:lpstr>
      <vt:lpstr>           Results</vt:lpstr>
      <vt:lpstr>           Result - Confusion Matrix:  </vt:lpstr>
      <vt:lpstr>Result - Classification Report Metrics:</vt:lpstr>
      <vt:lpstr>           Result- Login Page:  </vt:lpstr>
      <vt:lpstr>           Result - Dashboard Upload Screen : </vt:lpstr>
      <vt:lpstr>           Result - Analysis Results : </vt:lpstr>
      <vt:lpstr>Future Scope</vt:lpstr>
      <vt:lpstr>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Aalisha_Patwekar</dc:creator>
  <cp:lastModifiedBy>Aalisha Patwekar</cp:lastModifiedBy>
  <cp:revision>113</cp:revision>
  <dcterms:created xsi:type="dcterms:W3CDTF">2025-07-23T00:59:00Z</dcterms:created>
  <dcterms:modified xsi:type="dcterms:W3CDTF">2026-05-10T15:52:28Z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53D98EA922644B478A13410A32A3BB50_13</vt:lpwstr>
  </property>
  <property fmtid="{D5CDD505-2E9C-101B-9397-08002B2CF9AE}" pid="3" name="KSOProductBuildVer">
    <vt:lpwstr>1033-12.2.0.22549</vt:lpwstr>
  </property>
</Properties>
</file>